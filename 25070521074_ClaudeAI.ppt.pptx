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is a divide-and-conquer algorithm. Say the three steps: choose a pivot, partition so smaller values go left and larger go right, then recursively sort both sides. The diagram splits the array around pivot 2 and combines into a sorted array. It is used in library sorts and databases, and is popular because it is fast on average and sorts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method left to right. First and last are simplest but give worst-case behavior on already sorted data. Middle helps with sorted data. Random makes bad cases unlikely. Median-of-three takes the median of first, middle and last elements: here 8, 5 and 6 give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Lomuto uses one scanning pointer j and a boundary i; it finishes by placing the pivot at i+1, which is its final position, and returns that index. Hoare uses two pointers moving toward each other and swaps out-of-place pairs until they cross; it returns a boundary j and the pivot is not guaranteed to be in its final spot, so the ranges are (low, j) and (j+1, high). Hoare example: [5,8,2,9,1,6] swaps (5,1) then (8,2) giving [1,2,8,9,5,6], j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algorithm top to bottom. The base case is low &gt;= high, meaning zero or one element. PARTITION arranges the array and returns an index. Then recurse left and right. With Lomuto the pivot at p is excluded from both calls; with Hoare the ranges are (low, j) and (j+1, high), because the pivot is not guaranteed to be in final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is 2, i starts at -1. 8 and 3 are bigger, skipped. 1 is smaller: i becomes 0, swap A[0] and A[2] giving [1,3,8,7,0,10,2]. 7 skipped. 0 is smaller: i becomes 1, swap A[1] and A[4] giving [1,0,8,7,3,10,2]. 10 skipped. Swap pivot with A[2]: [1,0,2,7,3,10,8]; pivot 2 is final at index 2. Left [1,0] becomes [0,1]. Right [7,3,10,8] uses pivot 8: 7 and 3 are smaller (self-swaps), 10 larger, then pivot swaps to index 5 giving [7,3,8,10]. [7,3] becomes [3,7]. Final: [0,1,2,3,7,8,10].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and average time are O(n log n): balanced partitions give log n levels with n work each. Worst case O(n²) happens with unbalanced partitions, for example sorted input with a first or last pivot. Extra space is only the recursion stack. Quick Sort is fast and in place but not stable; pivot choice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divide and conquer, in-place partitioning, strong average speed, cache-friendly sequential access. Limitations: not stable and performance depends on pivot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systems rarely use plain Quick Sort: they use improved variants such as introsort (Quick Sort plus Heap Sort fallback) or dual-pivot Quick Sort. Quickselect reuses the partition step to find the k-th smallest element in average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using the table. Quick Sort has the best practical speed and small extra space but a quadratic worst case and no stability. Merge Sort is stable and guaranteed O(n log n) but needs O(n) extra space. Heap Sort guarantees O(n log n) with O(1) space but is usually slower in practice. Bubble Sort is simple but too slow for large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takeaways and end with the conclusion: Quick Sort is fast and in-place, and its real-world speed depends on good pivot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DIVIDE AND CONQUER</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Quick Sort Algorithm</a:t>
            </a:r>
            <a:endParaRPr lang="en-US" sz="3400" dirty="0"/>
          </a:p>
        </p:txBody>
      </p:sp>
      <p:sp>
        <p:nvSpPr>
          <p:cNvPr id="5" name="Shape 3"/>
          <p:cNvSpPr/>
          <p:nvPr/>
        </p:nvSpPr>
        <p:spPr>
          <a:xfrm>
            <a:off x="457200" y="1325880"/>
            <a:ext cx="3840480" cy="749808"/>
          </a:xfrm>
          <a:prstGeom prst="roundRect">
            <a:avLst>
              <a:gd name="adj" fmla="val 12195"/>
            </a:avLst>
          </a:prstGeom>
          <a:solidFill>
            <a:srgbClr val="15233B"/>
          </a:solidFill>
          <a:ln w="12700">
            <a:solidFill>
              <a:srgbClr val="24365A"/>
            </a:solidFill>
            <a:prstDash val="solid"/>
          </a:ln>
        </p:spPr>
      </p:sp>
      <p:sp>
        <p:nvSpPr>
          <p:cNvPr id="6" name="Shape 4"/>
          <p:cNvSpPr/>
          <p:nvPr/>
        </p:nvSpPr>
        <p:spPr>
          <a:xfrm>
            <a:off x="640080" y="1508760"/>
            <a:ext cx="384048" cy="384048"/>
          </a:xfrm>
          <a:prstGeom prst="ellipse">
            <a:avLst/>
          </a:prstGeom>
          <a:solidFill>
            <a:srgbClr val="2DD4BF"/>
          </a:solidFill>
          <a:ln/>
        </p:spPr>
      </p:sp>
      <p:sp>
        <p:nvSpPr>
          <p:cNvPr id="7" name="Text 5"/>
          <p:cNvSpPr txBox="1"/>
          <p:nvPr/>
        </p:nvSpPr>
        <p:spPr>
          <a:xfrm>
            <a:off x="640080" y="150876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188720" y="1417320"/>
            <a:ext cx="3017520" cy="27432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Choose a pivot</a:t>
            </a:r>
            <a:endParaRPr lang="en-US" sz="1700" dirty="0"/>
          </a:p>
        </p:txBody>
      </p:sp>
      <p:sp>
        <p:nvSpPr>
          <p:cNvPr id="9" name="Text 7"/>
          <p:cNvSpPr txBox="1"/>
          <p:nvPr/>
        </p:nvSpPr>
        <p:spPr>
          <a:xfrm>
            <a:off x="1188720" y="1709928"/>
            <a:ext cx="3017520" cy="2743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Pick one element as the dividing value</a:t>
            </a:r>
            <a:endParaRPr lang="en-US" sz="1300" dirty="0"/>
          </a:p>
        </p:txBody>
      </p:sp>
      <p:sp>
        <p:nvSpPr>
          <p:cNvPr id="10" name="Shape 8"/>
          <p:cNvSpPr/>
          <p:nvPr/>
        </p:nvSpPr>
        <p:spPr>
          <a:xfrm>
            <a:off x="457200" y="2167128"/>
            <a:ext cx="3840480" cy="749808"/>
          </a:xfrm>
          <a:prstGeom prst="roundRect">
            <a:avLst>
              <a:gd name="adj" fmla="val 12195"/>
            </a:avLst>
          </a:prstGeom>
          <a:solidFill>
            <a:srgbClr val="15233B"/>
          </a:solidFill>
          <a:ln w="12700">
            <a:solidFill>
              <a:srgbClr val="24365A"/>
            </a:solidFill>
            <a:prstDash val="solid"/>
          </a:ln>
        </p:spPr>
      </p:sp>
      <p:sp>
        <p:nvSpPr>
          <p:cNvPr id="11" name="Shape 9"/>
          <p:cNvSpPr/>
          <p:nvPr/>
        </p:nvSpPr>
        <p:spPr>
          <a:xfrm>
            <a:off x="640080" y="2350008"/>
            <a:ext cx="384048" cy="384048"/>
          </a:xfrm>
          <a:prstGeom prst="ellipse">
            <a:avLst/>
          </a:prstGeom>
          <a:solidFill>
            <a:srgbClr val="2DD4BF"/>
          </a:solidFill>
          <a:ln/>
        </p:spPr>
      </p:sp>
      <p:sp>
        <p:nvSpPr>
          <p:cNvPr id="12" name="Text 10"/>
          <p:cNvSpPr txBox="1"/>
          <p:nvPr/>
        </p:nvSpPr>
        <p:spPr>
          <a:xfrm>
            <a:off x="640080" y="2350008"/>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188720" y="2258568"/>
            <a:ext cx="3017520" cy="27432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Partition</a:t>
            </a:r>
            <a:endParaRPr lang="en-US" sz="1700" dirty="0"/>
          </a:p>
        </p:txBody>
      </p:sp>
      <p:sp>
        <p:nvSpPr>
          <p:cNvPr id="14" name="Text 12"/>
          <p:cNvSpPr txBox="1"/>
          <p:nvPr/>
        </p:nvSpPr>
        <p:spPr>
          <a:xfrm>
            <a:off x="1188720" y="2551176"/>
            <a:ext cx="3017520" cy="2743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Smaller values left, larger values right</a:t>
            </a:r>
            <a:endParaRPr lang="en-US" sz="1300" dirty="0"/>
          </a:p>
        </p:txBody>
      </p:sp>
      <p:sp>
        <p:nvSpPr>
          <p:cNvPr id="15" name="Shape 13"/>
          <p:cNvSpPr/>
          <p:nvPr/>
        </p:nvSpPr>
        <p:spPr>
          <a:xfrm>
            <a:off x="457200" y="3008376"/>
            <a:ext cx="3840480" cy="749808"/>
          </a:xfrm>
          <a:prstGeom prst="roundRect">
            <a:avLst>
              <a:gd name="adj" fmla="val 12195"/>
            </a:avLst>
          </a:prstGeom>
          <a:solidFill>
            <a:srgbClr val="15233B"/>
          </a:solidFill>
          <a:ln w="12700">
            <a:solidFill>
              <a:srgbClr val="24365A"/>
            </a:solidFill>
            <a:prstDash val="solid"/>
          </a:ln>
        </p:spPr>
      </p:sp>
      <p:sp>
        <p:nvSpPr>
          <p:cNvPr id="16" name="Shape 14"/>
          <p:cNvSpPr/>
          <p:nvPr/>
        </p:nvSpPr>
        <p:spPr>
          <a:xfrm>
            <a:off x="640080" y="3191256"/>
            <a:ext cx="384048" cy="384048"/>
          </a:xfrm>
          <a:prstGeom prst="ellipse">
            <a:avLst/>
          </a:prstGeom>
          <a:solidFill>
            <a:srgbClr val="2DD4BF"/>
          </a:solidFill>
          <a:ln/>
        </p:spPr>
      </p:sp>
      <p:sp>
        <p:nvSpPr>
          <p:cNvPr id="17" name="Text 15"/>
          <p:cNvSpPr txBox="1"/>
          <p:nvPr/>
        </p:nvSpPr>
        <p:spPr>
          <a:xfrm>
            <a:off x="640080" y="3191256"/>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1188720" y="3099816"/>
            <a:ext cx="3017520" cy="27432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Recurse</a:t>
            </a:r>
            <a:endParaRPr lang="en-US" sz="1700" dirty="0"/>
          </a:p>
        </p:txBody>
      </p:sp>
      <p:sp>
        <p:nvSpPr>
          <p:cNvPr id="19" name="Text 17"/>
          <p:cNvSpPr txBox="1"/>
          <p:nvPr/>
        </p:nvSpPr>
        <p:spPr>
          <a:xfrm>
            <a:off x="1188720" y="3392424"/>
            <a:ext cx="3017520" cy="2743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Sort the left and right subarrays</a:t>
            </a:r>
            <a:endParaRPr lang="en-US" sz="1300" dirty="0"/>
          </a:p>
        </p:txBody>
      </p:sp>
      <p:sp>
        <p:nvSpPr>
          <p:cNvPr id="20" name="Shape 18"/>
          <p:cNvSpPr/>
          <p:nvPr/>
        </p:nvSpPr>
        <p:spPr>
          <a:xfrm>
            <a:off x="4526280" y="1325880"/>
            <a:ext cx="4160520" cy="2432304"/>
          </a:xfrm>
          <a:prstGeom prst="roundRect">
            <a:avLst>
              <a:gd name="adj" fmla="val 3759"/>
            </a:avLst>
          </a:prstGeom>
          <a:solidFill>
            <a:srgbClr val="15233B"/>
          </a:solidFill>
          <a:ln w="12700">
            <a:solidFill>
              <a:srgbClr val="24365A"/>
            </a:solidFill>
            <a:prstDash val="solid"/>
          </a:ln>
        </p:spPr>
      </p:sp>
      <p:sp>
        <p:nvSpPr>
          <p:cNvPr id="21" name="Text 19"/>
          <p:cNvSpPr txBox="1"/>
          <p:nvPr/>
        </p:nvSpPr>
        <p:spPr>
          <a:xfrm>
            <a:off x="4709160" y="1417320"/>
            <a:ext cx="2743200" cy="182880"/>
          </a:xfrm>
          <a:prstGeom prst="rect">
            <a:avLst/>
          </a:prstGeom>
          <a:noFill/>
          <a:ln/>
        </p:spPr>
        <p:txBody>
          <a:bodyPr wrap="square" lIns="0" tIns="0" rIns="0" bIns="0" rtlCol="0" anchor="t"/>
          <a:lstStyle/>
          <a:p>
            <a:pPr indent="0" marL="0">
              <a:buNone/>
            </a:pPr>
            <a:r>
              <a:rPr lang="en-US" sz="1100" b="1" spc="200" kern="0" dirty="0">
                <a:solidFill>
                  <a:srgbClr val="94A3B8"/>
                </a:solidFill>
                <a:latin typeface="Calibri" pitchFamily="34" charset="0"/>
                <a:ea typeface="Calibri" pitchFamily="34" charset="-122"/>
                <a:cs typeface="Calibri" pitchFamily="34" charset="-120"/>
              </a:rPr>
              <a:t>UNSORTED</a:t>
            </a:r>
            <a:endParaRPr lang="en-US" sz="1100" dirty="0"/>
          </a:p>
        </p:txBody>
      </p:sp>
      <p:sp>
        <p:nvSpPr>
          <p:cNvPr id="22" name="Shape 20"/>
          <p:cNvSpPr/>
          <p:nvPr/>
        </p:nvSpPr>
        <p:spPr>
          <a:xfrm>
            <a:off x="4727448" y="1645920"/>
            <a:ext cx="384048" cy="420624"/>
          </a:xfrm>
          <a:prstGeom prst="roundRect">
            <a:avLst>
              <a:gd name="adj" fmla="val 14286"/>
            </a:avLst>
          </a:prstGeom>
          <a:solidFill>
            <a:srgbClr val="22324F"/>
          </a:solidFill>
          <a:ln w="12700">
            <a:solidFill>
              <a:srgbClr val="24365A"/>
            </a:solidFill>
            <a:prstDash val="solid"/>
          </a:ln>
        </p:spPr>
      </p:sp>
      <p:sp>
        <p:nvSpPr>
          <p:cNvPr id="23" name="Text 21"/>
          <p:cNvSpPr txBox="1"/>
          <p:nvPr/>
        </p:nvSpPr>
        <p:spPr>
          <a:xfrm>
            <a:off x="4709160" y="164592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8</a:t>
            </a:r>
            <a:endParaRPr lang="en-US" sz="1600" dirty="0"/>
          </a:p>
        </p:txBody>
      </p:sp>
      <p:sp>
        <p:nvSpPr>
          <p:cNvPr id="24" name="Shape 22"/>
          <p:cNvSpPr/>
          <p:nvPr/>
        </p:nvSpPr>
        <p:spPr>
          <a:xfrm>
            <a:off x="5148072" y="1645920"/>
            <a:ext cx="384048" cy="420624"/>
          </a:xfrm>
          <a:prstGeom prst="roundRect">
            <a:avLst>
              <a:gd name="adj" fmla="val 14286"/>
            </a:avLst>
          </a:prstGeom>
          <a:solidFill>
            <a:srgbClr val="22324F"/>
          </a:solidFill>
          <a:ln w="12700">
            <a:solidFill>
              <a:srgbClr val="24365A"/>
            </a:solidFill>
            <a:prstDash val="solid"/>
          </a:ln>
        </p:spPr>
      </p:sp>
      <p:sp>
        <p:nvSpPr>
          <p:cNvPr id="25" name="Text 23"/>
          <p:cNvSpPr txBox="1"/>
          <p:nvPr/>
        </p:nvSpPr>
        <p:spPr>
          <a:xfrm>
            <a:off x="5129784" y="164592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3</a:t>
            </a:r>
            <a:endParaRPr lang="en-US" sz="1600" dirty="0"/>
          </a:p>
        </p:txBody>
      </p:sp>
      <p:sp>
        <p:nvSpPr>
          <p:cNvPr id="26" name="Shape 24"/>
          <p:cNvSpPr/>
          <p:nvPr/>
        </p:nvSpPr>
        <p:spPr>
          <a:xfrm>
            <a:off x="5568696" y="1645920"/>
            <a:ext cx="384048" cy="420624"/>
          </a:xfrm>
          <a:prstGeom prst="roundRect">
            <a:avLst>
              <a:gd name="adj" fmla="val 14286"/>
            </a:avLst>
          </a:prstGeom>
          <a:solidFill>
            <a:srgbClr val="22324F"/>
          </a:solidFill>
          <a:ln w="12700">
            <a:solidFill>
              <a:srgbClr val="24365A"/>
            </a:solidFill>
            <a:prstDash val="solid"/>
          </a:ln>
        </p:spPr>
      </p:sp>
      <p:sp>
        <p:nvSpPr>
          <p:cNvPr id="27" name="Text 25"/>
          <p:cNvSpPr txBox="1"/>
          <p:nvPr/>
        </p:nvSpPr>
        <p:spPr>
          <a:xfrm>
            <a:off x="5550408" y="164592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a:t>
            </a:r>
            <a:endParaRPr lang="en-US" sz="1600" dirty="0"/>
          </a:p>
        </p:txBody>
      </p:sp>
      <p:sp>
        <p:nvSpPr>
          <p:cNvPr id="28" name="Shape 26"/>
          <p:cNvSpPr/>
          <p:nvPr/>
        </p:nvSpPr>
        <p:spPr>
          <a:xfrm>
            <a:off x="5989320" y="1645920"/>
            <a:ext cx="384048" cy="420624"/>
          </a:xfrm>
          <a:prstGeom prst="roundRect">
            <a:avLst>
              <a:gd name="adj" fmla="val 14286"/>
            </a:avLst>
          </a:prstGeom>
          <a:solidFill>
            <a:srgbClr val="22324F"/>
          </a:solidFill>
          <a:ln w="12700">
            <a:solidFill>
              <a:srgbClr val="24365A"/>
            </a:solidFill>
            <a:prstDash val="solid"/>
          </a:ln>
        </p:spPr>
      </p:sp>
      <p:sp>
        <p:nvSpPr>
          <p:cNvPr id="29" name="Text 27"/>
          <p:cNvSpPr txBox="1"/>
          <p:nvPr/>
        </p:nvSpPr>
        <p:spPr>
          <a:xfrm>
            <a:off x="5971032" y="164592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7</a:t>
            </a:r>
            <a:endParaRPr lang="en-US" sz="1600" dirty="0"/>
          </a:p>
        </p:txBody>
      </p:sp>
      <p:sp>
        <p:nvSpPr>
          <p:cNvPr id="30" name="Shape 28"/>
          <p:cNvSpPr/>
          <p:nvPr/>
        </p:nvSpPr>
        <p:spPr>
          <a:xfrm>
            <a:off x="6409944" y="1645920"/>
            <a:ext cx="384048" cy="420624"/>
          </a:xfrm>
          <a:prstGeom prst="roundRect">
            <a:avLst>
              <a:gd name="adj" fmla="val 14286"/>
            </a:avLst>
          </a:prstGeom>
          <a:solidFill>
            <a:srgbClr val="22324F"/>
          </a:solidFill>
          <a:ln w="12700">
            <a:solidFill>
              <a:srgbClr val="24365A"/>
            </a:solidFill>
            <a:prstDash val="solid"/>
          </a:ln>
        </p:spPr>
      </p:sp>
      <p:sp>
        <p:nvSpPr>
          <p:cNvPr id="31" name="Text 29"/>
          <p:cNvSpPr txBox="1"/>
          <p:nvPr/>
        </p:nvSpPr>
        <p:spPr>
          <a:xfrm>
            <a:off x="6391656" y="164592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0</a:t>
            </a:r>
            <a:endParaRPr lang="en-US" sz="1600" dirty="0"/>
          </a:p>
        </p:txBody>
      </p:sp>
      <p:sp>
        <p:nvSpPr>
          <p:cNvPr id="32" name="Shape 30"/>
          <p:cNvSpPr/>
          <p:nvPr/>
        </p:nvSpPr>
        <p:spPr>
          <a:xfrm>
            <a:off x="6830568" y="1645920"/>
            <a:ext cx="384048" cy="420624"/>
          </a:xfrm>
          <a:prstGeom prst="roundRect">
            <a:avLst>
              <a:gd name="adj" fmla="val 14286"/>
            </a:avLst>
          </a:prstGeom>
          <a:solidFill>
            <a:srgbClr val="22324F"/>
          </a:solidFill>
          <a:ln w="12700">
            <a:solidFill>
              <a:srgbClr val="24365A"/>
            </a:solidFill>
            <a:prstDash val="solid"/>
          </a:ln>
        </p:spPr>
      </p:sp>
      <p:sp>
        <p:nvSpPr>
          <p:cNvPr id="33" name="Text 31"/>
          <p:cNvSpPr txBox="1"/>
          <p:nvPr/>
        </p:nvSpPr>
        <p:spPr>
          <a:xfrm>
            <a:off x="6812280" y="164592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10</a:t>
            </a:r>
            <a:endParaRPr lang="en-US" sz="1600" dirty="0"/>
          </a:p>
        </p:txBody>
      </p:sp>
      <p:sp>
        <p:nvSpPr>
          <p:cNvPr id="34" name="Shape 32"/>
          <p:cNvSpPr/>
          <p:nvPr/>
        </p:nvSpPr>
        <p:spPr>
          <a:xfrm>
            <a:off x="7251192" y="1645920"/>
            <a:ext cx="384048" cy="420624"/>
          </a:xfrm>
          <a:prstGeom prst="roundRect">
            <a:avLst>
              <a:gd name="adj" fmla="val 14286"/>
            </a:avLst>
          </a:prstGeom>
          <a:solidFill>
            <a:srgbClr val="FBBF24"/>
          </a:solidFill>
          <a:ln w="12700">
            <a:solidFill>
              <a:srgbClr val="FBBF24"/>
            </a:solidFill>
            <a:prstDash val="solid"/>
          </a:ln>
        </p:spPr>
      </p:sp>
      <p:sp>
        <p:nvSpPr>
          <p:cNvPr id="35" name="Text 33"/>
          <p:cNvSpPr txBox="1"/>
          <p:nvPr/>
        </p:nvSpPr>
        <p:spPr>
          <a:xfrm>
            <a:off x="7232904" y="164592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36" name="Text 34"/>
          <p:cNvSpPr txBox="1"/>
          <p:nvPr/>
        </p:nvSpPr>
        <p:spPr>
          <a:xfrm>
            <a:off x="4709160" y="2194560"/>
            <a:ext cx="2743200" cy="182880"/>
          </a:xfrm>
          <a:prstGeom prst="rect">
            <a:avLst/>
          </a:prstGeom>
          <a:noFill/>
          <a:ln/>
        </p:spPr>
        <p:txBody>
          <a:bodyPr wrap="square" lIns="0" tIns="0" rIns="0" bIns="0" rtlCol="0" anchor="t"/>
          <a:lstStyle/>
          <a:p>
            <a:pPr indent="0" marL="0">
              <a:buNone/>
            </a:pPr>
            <a:r>
              <a:rPr lang="en-US" sz="1100" b="1" spc="200" kern="0" dirty="0">
                <a:solidFill>
                  <a:srgbClr val="94A3B8"/>
                </a:solidFill>
                <a:latin typeface="Calibri" pitchFamily="34" charset="0"/>
                <a:ea typeface="Calibri" pitchFamily="34" charset="-122"/>
                <a:cs typeface="Calibri" pitchFamily="34" charset="-120"/>
              </a:rPr>
              <a:t>DIVIDE AROUND PIVOT</a:t>
            </a:r>
            <a:endParaRPr lang="en-US" sz="1100" dirty="0"/>
          </a:p>
        </p:txBody>
      </p:sp>
      <p:sp>
        <p:nvSpPr>
          <p:cNvPr id="37" name="Shape 35"/>
          <p:cNvSpPr/>
          <p:nvPr/>
        </p:nvSpPr>
        <p:spPr>
          <a:xfrm>
            <a:off x="4727448" y="2423160"/>
            <a:ext cx="384048" cy="420624"/>
          </a:xfrm>
          <a:prstGeom prst="roundRect">
            <a:avLst>
              <a:gd name="adj" fmla="val 14286"/>
            </a:avLst>
          </a:prstGeom>
          <a:solidFill>
            <a:srgbClr val="22324F"/>
          </a:solidFill>
          <a:ln w="12700">
            <a:solidFill>
              <a:srgbClr val="24365A"/>
            </a:solidFill>
            <a:prstDash val="solid"/>
          </a:ln>
        </p:spPr>
      </p:sp>
      <p:sp>
        <p:nvSpPr>
          <p:cNvPr id="38" name="Text 36"/>
          <p:cNvSpPr txBox="1"/>
          <p:nvPr/>
        </p:nvSpPr>
        <p:spPr>
          <a:xfrm>
            <a:off x="4709160" y="242316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a:t>
            </a:r>
            <a:endParaRPr lang="en-US" sz="1600" dirty="0"/>
          </a:p>
        </p:txBody>
      </p:sp>
      <p:sp>
        <p:nvSpPr>
          <p:cNvPr id="39" name="Shape 37"/>
          <p:cNvSpPr/>
          <p:nvPr/>
        </p:nvSpPr>
        <p:spPr>
          <a:xfrm>
            <a:off x="5148072" y="2423160"/>
            <a:ext cx="384048" cy="420624"/>
          </a:xfrm>
          <a:prstGeom prst="roundRect">
            <a:avLst>
              <a:gd name="adj" fmla="val 14286"/>
            </a:avLst>
          </a:prstGeom>
          <a:solidFill>
            <a:srgbClr val="22324F"/>
          </a:solidFill>
          <a:ln w="12700">
            <a:solidFill>
              <a:srgbClr val="24365A"/>
            </a:solidFill>
            <a:prstDash val="solid"/>
          </a:ln>
        </p:spPr>
      </p:sp>
      <p:sp>
        <p:nvSpPr>
          <p:cNvPr id="40" name="Text 38"/>
          <p:cNvSpPr txBox="1"/>
          <p:nvPr/>
        </p:nvSpPr>
        <p:spPr>
          <a:xfrm>
            <a:off x="5129784" y="242316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0</a:t>
            </a:r>
            <a:endParaRPr lang="en-US" sz="1600" dirty="0"/>
          </a:p>
        </p:txBody>
      </p:sp>
      <p:sp>
        <p:nvSpPr>
          <p:cNvPr id="41" name="Shape 39"/>
          <p:cNvSpPr/>
          <p:nvPr/>
        </p:nvSpPr>
        <p:spPr>
          <a:xfrm>
            <a:off x="5687568" y="2423160"/>
            <a:ext cx="384048" cy="420624"/>
          </a:xfrm>
          <a:prstGeom prst="roundRect">
            <a:avLst>
              <a:gd name="adj" fmla="val 14286"/>
            </a:avLst>
          </a:prstGeom>
          <a:solidFill>
            <a:srgbClr val="FBBF24"/>
          </a:solidFill>
          <a:ln w="12700">
            <a:solidFill>
              <a:srgbClr val="FBBF24"/>
            </a:solidFill>
            <a:prstDash val="solid"/>
          </a:ln>
        </p:spPr>
      </p:sp>
      <p:sp>
        <p:nvSpPr>
          <p:cNvPr id="42" name="Text 40"/>
          <p:cNvSpPr txBox="1"/>
          <p:nvPr/>
        </p:nvSpPr>
        <p:spPr>
          <a:xfrm>
            <a:off x="5669280" y="242316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43" name="Shape 41"/>
          <p:cNvSpPr/>
          <p:nvPr/>
        </p:nvSpPr>
        <p:spPr>
          <a:xfrm>
            <a:off x="6327648" y="2423160"/>
            <a:ext cx="384048" cy="420624"/>
          </a:xfrm>
          <a:prstGeom prst="roundRect">
            <a:avLst>
              <a:gd name="adj" fmla="val 14286"/>
            </a:avLst>
          </a:prstGeom>
          <a:solidFill>
            <a:srgbClr val="22324F"/>
          </a:solidFill>
          <a:ln w="12700">
            <a:solidFill>
              <a:srgbClr val="24365A"/>
            </a:solidFill>
            <a:prstDash val="solid"/>
          </a:ln>
        </p:spPr>
      </p:sp>
      <p:sp>
        <p:nvSpPr>
          <p:cNvPr id="44" name="Text 42"/>
          <p:cNvSpPr txBox="1"/>
          <p:nvPr/>
        </p:nvSpPr>
        <p:spPr>
          <a:xfrm>
            <a:off x="6309360" y="242316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7</a:t>
            </a:r>
            <a:endParaRPr lang="en-US" sz="1600" dirty="0"/>
          </a:p>
        </p:txBody>
      </p:sp>
      <p:sp>
        <p:nvSpPr>
          <p:cNvPr id="45" name="Shape 43"/>
          <p:cNvSpPr/>
          <p:nvPr/>
        </p:nvSpPr>
        <p:spPr>
          <a:xfrm>
            <a:off x="6748272" y="2423160"/>
            <a:ext cx="384048" cy="420624"/>
          </a:xfrm>
          <a:prstGeom prst="roundRect">
            <a:avLst>
              <a:gd name="adj" fmla="val 14286"/>
            </a:avLst>
          </a:prstGeom>
          <a:solidFill>
            <a:srgbClr val="22324F"/>
          </a:solidFill>
          <a:ln w="12700">
            <a:solidFill>
              <a:srgbClr val="24365A"/>
            </a:solidFill>
            <a:prstDash val="solid"/>
          </a:ln>
        </p:spPr>
      </p:sp>
      <p:sp>
        <p:nvSpPr>
          <p:cNvPr id="46" name="Text 44"/>
          <p:cNvSpPr txBox="1"/>
          <p:nvPr/>
        </p:nvSpPr>
        <p:spPr>
          <a:xfrm>
            <a:off x="6729984" y="242316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3</a:t>
            </a:r>
            <a:endParaRPr lang="en-US" sz="1600" dirty="0"/>
          </a:p>
        </p:txBody>
      </p:sp>
      <p:sp>
        <p:nvSpPr>
          <p:cNvPr id="47" name="Shape 45"/>
          <p:cNvSpPr/>
          <p:nvPr/>
        </p:nvSpPr>
        <p:spPr>
          <a:xfrm>
            <a:off x="7168896" y="2423160"/>
            <a:ext cx="384048" cy="420624"/>
          </a:xfrm>
          <a:prstGeom prst="roundRect">
            <a:avLst>
              <a:gd name="adj" fmla="val 14286"/>
            </a:avLst>
          </a:prstGeom>
          <a:solidFill>
            <a:srgbClr val="22324F"/>
          </a:solidFill>
          <a:ln w="12700">
            <a:solidFill>
              <a:srgbClr val="24365A"/>
            </a:solidFill>
            <a:prstDash val="solid"/>
          </a:ln>
        </p:spPr>
      </p:sp>
      <p:sp>
        <p:nvSpPr>
          <p:cNvPr id="48" name="Text 46"/>
          <p:cNvSpPr txBox="1"/>
          <p:nvPr/>
        </p:nvSpPr>
        <p:spPr>
          <a:xfrm>
            <a:off x="7150608" y="242316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10</a:t>
            </a:r>
            <a:endParaRPr lang="en-US" sz="1600" dirty="0"/>
          </a:p>
        </p:txBody>
      </p:sp>
      <p:sp>
        <p:nvSpPr>
          <p:cNvPr id="49" name="Shape 47"/>
          <p:cNvSpPr/>
          <p:nvPr/>
        </p:nvSpPr>
        <p:spPr>
          <a:xfrm>
            <a:off x="7589520" y="2423160"/>
            <a:ext cx="384048" cy="420624"/>
          </a:xfrm>
          <a:prstGeom prst="roundRect">
            <a:avLst>
              <a:gd name="adj" fmla="val 14286"/>
            </a:avLst>
          </a:prstGeom>
          <a:solidFill>
            <a:srgbClr val="22324F"/>
          </a:solidFill>
          <a:ln w="12700">
            <a:solidFill>
              <a:srgbClr val="24365A"/>
            </a:solidFill>
            <a:prstDash val="solid"/>
          </a:ln>
        </p:spPr>
      </p:sp>
      <p:sp>
        <p:nvSpPr>
          <p:cNvPr id="50" name="Text 48"/>
          <p:cNvSpPr txBox="1"/>
          <p:nvPr/>
        </p:nvSpPr>
        <p:spPr>
          <a:xfrm>
            <a:off x="7571232" y="242316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8</a:t>
            </a:r>
            <a:endParaRPr lang="en-US" sz="1600" dirty="0"/>
          </a:p>
        </p:txBody>
      </p:sp>
      <p:sp>
        <p:nvSpPr>
          <p:cNvPr id="51" name="Text 49"/>
          <p:cNvSpPr txBox="1"/>
          <p:nvPr/>
        </p:nvSpPr>
        <p:spPr>
          <a:xfrm>
            <a:off x="4709160" y="2971800"/>
            <a:ext cx="2743200" cy="182880"/>
          </a:xfrm>
          <a:prstGeom prst="rect">
            <a:avLst/>
          </a:prstGeom>
          <a:noFill/>
          <a:ln/>
        </p:spPr>
        <p:txBody>
          <a:bodyPr wrap="square" lIns="0" tIns="0" rIns="0" bIns="0" rtlCol="0" anchor="t"/>
          <a:lstStyle/>
          <a:p>
            <a:pPr indent="0" marL="0">
              <a:buNone/>
            </a:pPr>
            <a:r>
              <a:rPr lang="en-US" sz="1100" b="1" spc="200" kern="0" dirty="0">
                <a:solidFill>
                  <a:srgbClr val="94A3B8"/>
                </a:solidFill>
                <a:latin typeface="Calibri" pitchFamily="34" charset="0"/>
                <a:ea typeface="Calibri" pitchFamily="34" charset="-122"/>
                <a:cs typeface="Calibri" pitchFamily="34" charset="-120"/>
              </a:rPr>
              <a:t>COMBINE: SORTED</a:t>
            </a:r>
            <a:endParaRPr lang="en-US" sz="1100" dirty="0"/>
          </a:p>
        </p:txBody>
      </p:sp>
      <p:sp>
        <p:nvSpPr>
          <p:cNvPr id="52" name="Shape 50"/>
          <p:cNvSpPr/>
          <p:nvPr/>
        </p:nvSpPr>
        <p:spPr>
          <a:xfrm>
            <a:off x="4727448" y="3200400"/>
            <a:ext cx="384048" cy="420624"/>
          </a:xfrm>
          <a:prstGeom prst="roundRect">
            <a:avLst>
              <a:gd name="adj" fmla="val 14286"/>
            </a:avLst>
          </a:prstGeom>
          <a:solidFill>
            <a:srgbClr val="2DD4BF"/>
          </a:solidFill>
          <a:ln w="12700">
            <a:solidFill>
              <a:srgbClr val="2DD4BF"/>
            </a:solidFill>
            <a:prstDash val="solid"/>
          </a:ln>
        </p:spPr>
      </p:sp>
      <p:sp>
        <p:nvSpPr>
          <p:cNvPr id="53" name="Text 51"/>
          <p:cNvSpPr txBox="1"/>
          <p:nvPr/>
        </p:nvSpPr>
        <p:spPr>
          <a:xfrm>
            <a:off x="4709160" y="32004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0</a:t>
            </a:r>
            <a:endParaRPr lang="en-US" sz="1600" dirty="0"/>
          </a:p>
        </p:txBody>
      </p:sp>
      <p:sp>
        <p:nvSpPr>
          <p:cNvPr id="54" name="Shape 52"/>
          <p:cNvSpPr/>
          <p:nvPr/>
        </p:nvSpPr>
        <p:spPr>
          <a:xfrm>
            <a:off x="5148072" y="3200400"/>
            <a:ext cx="384048" cy="420624"/>
          </a:xfrm>
          <a:prstGeom prst="roundRect">
            <a:avLst>
              <a:gd name="adj" fmla="val 14286"/>
            </a:avLst>
          </a:prstGeom>
          <a:solidFill>
            <a:srgbClr val="2DD4BF"/>
          </a:solidFill>
          <a:ln w="12700">
            <a:solidFill>
              <a:srgbClr val="2DD4BF"/>
            </a:solidFill>
            <a:prstDash val="solid"/>
          </a:ln>
        </p:spPr>
      </p:sp>
      <p:sp>
        <p:nvSpPr>
          <p:cNvPr id="55" name="Text 53"/>
          <p:cNvSpPr txBox="1"/>
          <p:nvPr/>
        </p:nvSpPr>
        <p:spPr>
          <a:xfrm>
            <a:off x="5129784" y="32004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56" name="Shape 54"/>
          <p:cNvSpPr/>
          <p:nvPr/>
        </p:nvSpPr>
        <p:spPr>
          <a:xfrm>
            <a:off x="5568696" y="3200400"/>
            <a:ext cx="384048" cy="420624"/>
          </a:xfrm>
          <a:prstGeom prst="roundRect">
            <a:avLst>
              <a:gd name="adj" fmla="val 14286"/>
            </a:avLst>
          </a:prstGeom>
          <a:solidFill>
            <a:srgbClr val="2DD4BF"/>
          </a:solidFill>
          <a:ln w="12700">
            <a:solidFill>
              <a:srgbClr val="2DD4BF"/>
            </a:solidFill>
            <a:prstDash val="solid"/>
          </a:ln>
        </p:spPr>
      </p:sp>
      <p:sp>
        <p:nvSpPr>
          <p:cNvPr id="57" name="Text 55"/>
          <p:cNvSpPr txBox="1"/>
          <p:nvPr/>
        </p:nvSpPr>
        <p:spPr>
          <a:xfrm>
            <a:off x="5550408" y="32004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58" name="Shape 56"/>
          <p:cNvSpPr/>
          <p:nvPr/>
        </p:nvSpPr>
        <p:spPr>
          <a:xfrm>
            <a:off x="5989320" y="3200400"/>
            <a:ext cx="384048" cy="420624"/>
          </a:xfrm>
          <a:prstGeom prst="roundRect">
            <a:avLst>
              <a:gd name="adj" fmla="val 14286"/>
            </a:avLst>
          </a:prstGeom>
          <a:solidFill>
            <a:srgbClr val="2DD4BF"/>
          </a:solidFill>
          <a:ln w="12700">
            <a:solidFill>
              <a:srgbClr val="2DD4BF"/>
            </a:solidFill>
            <a:prstDash val="solid"/>
          </a:ln>
        </p:spPr>
      </p:sp>
      <p:sp>
        <p:nvSpPr>
          <p:cNvPr id="59" name="Text 57"/>
          <p:cNvSpPr txBox="1"/>
          <p:nvPr/>
        </p:nvSpPr>
        <p:spPr>
          <a:xfrm>
            <a:off x="5971032" y="32004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60" name="Shape 58"/>
          <p:cNvSpPr/>
          <p:nvPr/>
        </p:nvSpPr>
        <p:spPr>
          <a:xfrm>
            <a:off x="6409944" y="3200400"/>
            <a:ext cx="384048" cy="420624"/>
          </a:xfrm>
          <a:prstGeom prst="roundRect">
            <a:avLst>
              <a:gd name="adj" fmla="val 14286"/>
            </a:avLst>
          </a:prstGeom>
          <a:solidFill>
            <a:srgbClr val="2DD4BF"/>
          </a:solidFill>
          <a:ln w="12700">
            <a:solidFill>
              <a:srgbClr val="2DD4BF"/>
            </a:solidFill>
            <a:prstDash val="solid"/>
          </a:ln>
        </p:spPr>
      </p:sp>
      <p:sp>
        <p:nvSpPr>
          <p:cNvPr id="61" name="Text 59"/>
          <p:cNvSpPr txBox="1"/>
          <p:nvPr/>
        </p:nvSpPr>
        <p:spPr>
          <a:xfrm>
            <a:off x="6391656" y="32004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7</a:t>
            </a:r>
            <a:endParaRPr lang="en-US" sz="1600" dirty="0"/>
          </a:p>
        </p:txBody>
      </p:sp>
      <p:sp>
        <p:nvSpPr>
          <p:cNvPr id="62" name="Shape 60"/>
          <p:cNvSpPr/>
          <p:nvPr/>
        </p:nvSpPr>
        <p:spPr>
          <a:xfrm>
            <a:off x="6830568" y="3200400"/>
            <a:ext cx="384048" cy="420624"/>
          </a:xfrm>
          <a:prstGeom prst="roundRect">
            <a:avLst>
              <a:gd name="adj" fmla="val 14286"/>
            </a:avLst>
          </a:prstGeom>
          <a:solidFill>
            <a:srgbClr val="2DD4BF"/>
          </a:solidFill>
          <a:ln w="12700">
            <a:solidFill>
              <a:srgbClr val="2DD4BF"/>
            </a:solidFill>
            <a:prstDash val="solid"/>
          </a:ln>
        </p:spPr>
      </p:sp>
      <p:sp>
        <p:nvSpPr>
          <p:cNvPr id="63" name="Text 61"/>
          <p:cNvSpPr txBox="1"/>
          <p:nvPr/>
        </p:nvSpPr>
        <p:spPr>
          <a:xfrm>
            <a:off x="6812280" y="32004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8</a:t>
            </a:r>
            <a:endParaRPr lang="en-US" sz="1600" dirty="0"/>
          </a:p>
        </p:txBody>
      </p:sp>
      <p:sp>
        <p:nvSpPr>
          <p:cNvPr id="64" name="Shape 62"/>
          <p:cNvSpPr/>
          <p:nvPr/>
        </p:nvSpPr>
        <p:spPr>
          <a:xfrm>
            <a:off x="7251192" y="3200400"/>
            <a:ext cx="384048" cy="420624"/>
          </a:xfrm>
          <a:prstGeom prst="roundRect">
            <a:avLst>
              <a:gd name="adj" fmla="val 14286"/>
            </a:avLst>
          </a:prstGeom>
          <a:solidFill>
            <a:srgbClr val="2DD4BF"/>
          </a:solidFill>
          <a:ln w="12700">
            <a:solidFill>
              <a:srgbClr val="2DD4BF"/>
            </a:solidFill>
            <a:prstDash val="solid"/>
          </a:ln>
        </p:spPr>
      </p:sp>
      <p:sp>
        <p:nvSpPr>
          <p:cNvPr id="65" name="Text 63"/>
          <p:cNvSpPr txBox="1"/>
          <p:nvPr/>
        </p:nvSpPr>
        <p:spPr>
          <a:xfrm>
            <a:off x="7232904" y="32004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10</a:t>
            </a:r>
            <a:endParaRPr lang="en-US" sz="1600" dirty="0"/>
          </a:p>
        </p:txBody>
      </p:sp>
      <p:sp>
        <p:nvSpPr>
          <p:cNvPr id="66" name="Shape 64"/>
          <p:cNvSpPr/>
          <p:nvPr/>
        </p:nvSpPr>
        <p:spPr>
          <a:xfrm>
            <a:off x="457200" y="3931920"/>
            <a:ext cx="3840480" cy="777240"/>
          </a:xfrm>
          <a:prstGeom prst="roundRect">
            <a:avLst>
              <a:gd name="adj" fmla="val 11765"/>
            </a:avLst>
          </a:prstGeom>
          <a:solidFill>
            <a:srgbClr val="15233B"/>
          </a:solidFill>
          <a:ln w="12700">
            <a:solidFill>
              <a:srgbClr val="24365A"/>
            </a:solidFill>
            <a:prstDash val="solid"/>
          </a:ln>
        </p:spPr>
      </p:sp>
      <p:sp>
        <p:nvSpPr>
          <p:cNvPr id="67" name="Text 65"/>
          <p:cNvSpPr txBox="1"/>
          <p:nvPr/>
        </p:nvSpPr>
        <p:spPr>
          <a:xfrm>
            <a:off x="640080" y="4023360"/>
            <a:ext cx="3520440" cy="594360"/>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Used in  </a:t>
            </a:r>
            <a:pPr indent="0" marL="0">
              <a:buNone/>
            </a:pPr>
            <a:r>
              <a:rPr lang="en-US" sz="1300" dirty="0">
                <a:solidFill>
                  <a:srgbClr val="F1F5F9"/>
                </a:solidFill>
                <a:latin typeface="Calibri" pitchFamily="34" charset="0"/>
                <a:ea typeface="Calibri" pitchFamily="34" charset="-122"/>
                <a:cs typeface="Calibri" pitchFamily="34" charset="-120"/>
              </a:rPr>
              <a:t>library sort functions, databases, search and ranking</a:t>
            </a:r>
            <a:endParaRPr lang="en-US" sz="1300" dirty="0"/>
          </a:p>
        </p:txBody>
      </p:sp>
      <p:sp>
        <p:nvSpPr>
          <p:cNvPr id="68" name="Shape 66"/>
          <p:cNvSpPr/>
          <p:nvPr/>
        </p:nvSpPr>
        <p:spPr>
          <a:xfrm>
            <a:off x="4526280" y="3931920"/>
            <a:ext cx="4160520" cy="777240"/>
          </a:xfrm>
          <a:prstGeom prst="roundRect">
            <a:avLst>
              <a:gd name="adj" fmla="val 11765"/>
            </a:avLst>
          </a:prstGeom>
          <a:solidFill>
            <a:srgbClr val="15233B"/>
          </a:solidFill>
          <a:ln w="12700">
            <a:solidFill>
              <a:srgbClr val="24365A"/>
            </a:solidFill>
            <a:prstDash val="solid"/>
          </a:ln>
        </p:spPr>
      </p:sp>
      <p:sp>
        <p:nvSpPr>
          <p:cNvPr id="69" name="Text 67"/>
          <p:cNvSpPr txBox="1"/>
          <p:nvPr/>
        </p:nvSpPr>
        <p:spPr>
          <a:xfrm>
            <a:off x="4709160" y="4023360"/>
            <a:ext cx="3840480" cy="594360"/>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Why it wins  </a:t>
            </a:r>
            <a:pPr indent="0" marL="0">
              <a:buNone/>
            </a:pPr>
            <a:r>
              <a:rPr lang="en-US" sz="1300" dirty="0">
                <a:solidFill>
                  <a:srgbClr val="F1F5F9"/>
                </a:solidFill>
                <a:latin typeface="Calibri" pitchFamily="34" charset="0"/>
                <a:ea typeface="Calibri" pitchFamily="34" charset="-122"/>
                <a:cs typeface="Calibri" pitchFamily="34" charset="-120"/>
              </a:rPr>
              <a:t>fast on average, sorts in place, simple recursion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STEP BY STEP</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Pivot Selection Methods</a:t>
            </a:r>
            <a:endParaRPr lang="en-US" sz="3400" dirty="0"/>
          </a:p>
        </p:txBody>
      </p:sp>
      <p:sp>
        <p:nvSpPr>
          <p:cNvPr id="5" name="Text 3"/>
          <p:cNvSpPr txBox="1"/>
          <p:nvPr/>
        </p:nvSpPr>
        <p:spPr>
          <a:xfrm>
            <a:off x="457200" y="1097280"/>
            <a:ext cx="6400800" cy="2743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Same array [8, 3, 5, 9, 6] in every card. The pivot is highlighted.</a:t>
            </a:r>
            <a:endParaRPr lang="en-US" sz="1300" dirty="0"/>
          </a:p>
        </p:txBody>
      </p:sp>
      <p:sp>
        <p:nvSpPr>
          <p:cNvPr id="6" name="Shape 4"/>
          <p:cNvSpPr/>
          <p:nvPr/>
        </p:nvSpPr>
        <p:spPr>
          <a:xfrm>
            <a:off x="365760" y="1463040"/>
            <a:ext cx="1609344" cy="3246120"/>
          </a:xfrm>
          <a:prstGeom prst="roundRect">
            <a:avLst>
              <a:gd name="adj" fmla="val 5682"/>
            </a:avLst>
          </a:prstGeom>
          <a:solidFill>
            <a:srgbClr val="15233B"/>
          </a:solidFill>
          <a:ln w="12700">
            <a:solidFill>
              <a:srgbClr val="24365A"/>
            </a:solidFill>
            <a:prstDash val="solid"/>
          </a:ln>
        </p:spPr>
      </p:sp>
      <p:sp>
        <p:nvSpPr>
          <p:cNvPr id="7" name="Shape 5"/>
          <p:cNvSpPr/>
          <p:nvPr/>
        </p:nvSpPr>
        <p:spPr>
          <a:xfrm>
            <a:off x="475488" y="1572768"/>
            <a:ext cx="384048" cy="384048"/>
          </a:xfrm>
          <a:prstGeom prst="ellipse">
            <a:avLst/>
          </a:prstGeom>
          <a:solidFill>
            <a:srgbClr val="2DD4BF"/>
          </a:solidFill>
          <a:ln/>
        </p:spPr>
      </p:sp>
      <p:sp>
        <p:nvSpPr>
          <p:cNvPr id="8" name="Text 6"/>
          <p:cNvSpPr txBox="1"/>
          <p:nvPr/>
        </p:nvSpPr>
        <p:spPr>
          <a:xfrm>
            <a:off x="475488" y="1572768"/>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932688" y="1627632"/>
            <a:ext cx="1005840" cy="27432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First</a:t>
            </a:r>
            <a:endParaRPr lang="en-US" sz="1400" dirty="0"/>
          </a:p>
        </p:txBody>
      </p:sp>
      <p:sp>
        <p:nvSpPr>
          <p:cNvPr id="10" name="Shape 8"/>
          <p:cNvSpPr/>
          <p:nvPr/>
        </p:nvSpPr>
        <p:spPr>
          <a:xfrm>
            <a:off x="457200" y="2148840"/>
            <a:ext cx="256032" cy="292608"/>
          </a:xfrm>
          <a:prstGeom prst="roundRect">
            <a:avLst>
              <a:gd name="adj" fmla="val 21429"/>
            </a:avLst>
          </a:prstGeom>
          <a:solidFill>
            <a:srgbClr val="2DD4BF"/>
          </a:solidFill>
          <a:ln w="12700">
            <a:solidFill>
              <a:srgbClr val="2DD4BF"/>
            </a:solidFill>
            <a:prstDash val="solid"/>
          </a:ln>
        </p:spPr>
      </p:sp>
      <p:sp>
        <p:nvSpPr>
          <p:cNvPr id="11" name="Text 9"/>
          <p:cNvSpPr txBox="1"/>
          <p:nvPr/>
        </p:nvSpPr>
        <p:spPr>
          <a:xfrm>
            <a:off x="438912" y="2148840"/>
            <a:ext cx="292608" cy="29260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8</a:t>
            </a:r>
            <a:endParaRPr lang="en-US" sz="1300" dirty="0"/>
          </a:p>
        </p:txBody>
      </p:sp>
      <p:sp>
        <p:nvSpPr>
          <p:cNvPr id="12" name="Shape 10"/>
          <p:cNvSpPr/>
          <p:nvPr/>
        </p:nvSpPr>
        <p:spPr>
          <a:xfrm>
            <a:off x="749808" y="2148840"/>
            <a:ext cx="256032" cy="292608"/>
          </a:xfrm>
          <a:prstGeom prst="roundRect">
            <a:avLst>
              <a:gd name="adj" fmla="val 21429"/>
            </a:avLst>
          </a:prstGeom>
          <a:solidFill>
            <a:srgbClr val="22324F"/>
          </a:solidFill>
          <a:ln w="12700">
            <a:solidFill>
              <a:srgbClr val="24365A"/>
            </a:solidFill>
            <a:prstDash val="solid"/>
          </a:ln>
        </p:spPr>
      </p:sp>
      <p:sp>
        <p:nvSpPr>
          <p:cNvPr id="13" name="Text 11"/>
          <p:cNvSpPr txBox="1"/>
          <p:nvPr/>
        </p:nvSpPr>
        <p:spPr>
          <a:xfrm>
            <a:off x="731520"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3</a:t>
            </a:r>
            <a:endParaRPr lang="en-US" sz="1300" dirty="0"/>
          </a:p>
        </p:txBody>
      </p:sp>
      <p:sp>
        <p:nvSpPr>
          <p:cNvPr id="14" name="Shape 12"/>
          <p:cNvSpPr/>
          <p:nvPr/>
        </p:nvSpPr>
        <p:spPr>
          <a:xfrm>
            <a:off x="1042416" y="2148840"/>
            <a:ext cx="256032" cy="292608"/>
          </a:xfrm>
          <a:prstGeom prst="roundRect">
            <a:avLst>
              <a:gd name="adj" fmla="val 21429"/>
            </a:avLst>
          </a:prstGeom>
          <a:solidFill>
            <a:srgbClr val="22324F"/>
          </a:solidFill>
          <a:ln w="12700">
            <a:solidFill>
              <a:srgbClr val="24365A"/>
            </a:solidFill>
            <a:prstDash val="solid"/>
          </a:ln>
        </p:spPr>
      </p:sp>
      <p:sp>
        <p:nvSpPr>
          <p:cNvPr id="15" name="Text 13"/>
          <p:cNvSpPr txBox="1"/>
          <p:nvPr/>
        </p:nvSpPr>
        <p:spPr>
          <a:xfrm>
            <a:off x="1024128"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5</a:t>
            </a:r>
            <a:endParaRPr lang="en-US" sz="1300" dirty="0"/>
          </a:p>
        </p:txBody>
      </p:sp>
      <p:sp>
        <p:nvSpPr>
          <p:cNvPr id="16" name="Shape 14"/>
          <p:cNvSpPr/>
          <p:nvPr/>
        </p:nvSpPr>
        <p:spPr>
          <a:xfrm>
            <a:off x="1335024" y="2148840"/>
            <a:ext cx="256032" cy="292608"/>
          </a:xfrm>
          <a:prstGeom prst="roundRect">
            <a:avLst>
              <a:gd name="adj" fmla="val 21429"/>
            </a:avLst>
          </a:prstGeom>
          <a:solidFill>
            <a:srgbClr val="22324F"/>
          </a:solidFill>
          <a:ln w="12700">
            <a:solidFill>
              <a:srgbClr val="24365A"/>
            </a:solidFill>
            <a:prstDash val="solid"/>
          </a:ln>
        </p:spPr>
      </p:sp>
      <p:sp>
        <p:nvSpPr>
          <p:cNvPr id="17" name="Text 15"/>
          <p:cNvSpPr txBox="1"/>
          <p:nvPr/>
        </p:nvSpPr>
        <p:spPr>
          <a:xfrm>
            <a:off x="1316736"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9</a:t>
            </a:r>
            <a:endParaRPr lang="en-US" sz="1300" dirty="0"/>
          </a:p>
        </p:txBody>
      </p:sp>
      <p:sp>
        <p:nvSpPr>
          <p:cNvPr id="18" name="Shape 16"/>
          <p:cNvSpPr/>
          <p:nvPr/>
        </p:nvSpPr>
        <p:spPr>
          <a:xfrm>
            <a:off x="1627632" y="2148840"/>
            <a:ext cx="256032" cy="292608"/>
          </a:xfrm>
          <a:prstGeom prst="roundRect">
            <a:avLst>
              <a:gd name="adj" fmla="val 21429"/>
            </a:avLst>
          </a:prstGeom>
          <a:solidFill>
            <a:srgbClr val="22324F"/>
          </a:solidFill>
          <a:ln w="12700">
            <a:solidFill>
              <a:srgbClr val="24365A"/>
            </a:solidFill>
            <a:prstDash val="solid"/>
          </a:ln>
        </p:spPr>
      </p:sp>
      <p:sp>
        <p:nvSpPr>
          <p:cNvPr id="19" name="Text 17"/>
          <p:cNvSpPr txBox="1"/>
          <p:nvPr/>
        </p:nvSpPr>
        <p:spPr>
          <a:xfrm>
            <a:off x="1609344"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6</a:t>
            </a:r>
            <a:endParaRPr lang="en-US" sz="1300" dirty="0"/>
          </a:p>
        </p:txBody>
      </p:sp>
      <p:sp>
        <p:nvSpPr>
          <p:cNvPr id="20" name="Text 18"/>
          <p:cNvSpPr txBox="1"/>
          <p:nvPr/>
        </p:nvSpPr>
        <p:spPr>
          <a:xfrm>
            <a:off x="457200" y="2560320"/>
            <a:ext cx="1463040" cy="274320"/>
          </a:xfrm>
          <a:prstGeom prst="rect">
            <a:avLst/>
          </a:prstGeom>
          <a:noFill/>
          <a:ln/>
        </p:spPr>
        <p:txBody>
          <a:bodyPr wrap="square" lIns="0" tIns="0" rIns="0" bIns="0" rtlCol="0" anchor="t"/>
          <a:lstStyle/>
          <a:p>
            <a:pPr indent="0" marL="0">
              <a:buNone/>
            </a:pPr>
            <a:r>
              <a:rPr lang="en-US" sz="1200" b="1" dirty="0">
                <a:solidFill>
                  <a:srgbClr val="2DD4BF"/>
                </a:solidFill>
                <a:latin typeface="Calibri" pitchFamily="34" charset="0"/>
                <a:ea typeface="Calibri" pitchFamily="34" charset="-122"/>
                <a:cs typeface="Calibri" pitchFamily="34" charset="-120"/>
              </a:rPr>
              <a:t>index 0 → 8</a:t>
            </a:r>
            <a:endParaRPr lang="en-US" sz="1200" dirty="0"/>
          </a:p>
        </p:txBody>
      </p:sp>
      <p:sp>
        <p:nvSpPr>
          <p:cNvPr id="21" name="Text 19"/>
          <p:cNvSpPr txBox="1"/>
          <p:nvPr/>
        </p:nvSpPr>
        <p:spPr>
          <a:xfrm>
            <a:off x="457200" y="3017520"/>
            <a:ext cx="1444752" cy="1371600"/>
          </a:xfrm>
          <a:prstGeom prst="rect">
            <a:avLst/>
          </a:prstGeom>
          <a:noFill/>
          <a:ln/>
        </p:spPr>
        <p:txBody>
          <a:bodyPr wrap="square" lIns="0" tIns="0" rIns="0" bIns="0" rtlCol="0" anchor="t"/>
          <a:lstStyle/>
          <a:p>
            <a:pPr indent="0" marL="0">
              <a:spcAft>
                <a:spcPts val="800"/>
              </a:spcAft>
              <a:buNone/>
            </a:pPr>
            <a:r>
              <a:rPr lang="en-US" sz="1300" dirty="0">
                <a:solidFill>
                  <a:srgbClr val="4ADE80"/>
                </a:solidFill>
                <a:latin typeface="Calibri" pitchFamily="34" charset="0"/>
                <a:ea typeface="Calibri" pitchFamily="34" charset="-122"/>
                <a:cs typeface="Calibri" pitchFamily="34" charset="-120"/>
              </a:rPr>
              <a:t>+ Simple and fast</a:t>
            </a:r>
            <a:endParaRPr lang="en-US" sz="1300" dirty="0"/>
          </a:p>
          <a:p>
            <a:pPr indent="0" marL="0">
              <a:spcAft>
                <a:spcPts val="800"/>
              </a:spcAft>
              <a:buNone/>
            </a:pPr>
            <a:r>
              <a:rPr lang="en-US" sz="1300" dirty="0">
                <a:solidFill>
                  <a:srgbClr val="FB7185"/>
                </a:solidFill>
                <a:latin typeface="Calibri" pitchFamily="34" charset="0"/>
                <a:ea typeface="Calibri" pitchFamily="34" charset="-122"/>
                <a:cs typeface="Calibri" pitchFamily="34" charset="-120"/>
              </a:rPr>
              <a:t>- Poor on sorted data</a:t>
            </a:r>
            <a:endParaRPr lang="en-US" sz="1300" dirty="0"/>
          </a:p>
        </p:txBody>
      </p:sp>
      <p:sp>
        <p:nvSpPr>
          <p:cNvPr id="22" name="Shape 20"/>
          <p:cNvSpPr/>
          <p:nvPr/>
        </p:nvSpPr>
        <p:spPr>
          <a:xfrm>
            <a:off x="2066544" y="1463040"/>
            <a:ext cx="1609344" cy="3246120"/>
          </a:xfrm>
          <a:prstGeom prst="roundRect">
            <a:avLst>
              <a:gd name="adj" fmla="val 5682"/>
            </a:avLst>
          </a:prstGeom>
          <a:solidFill>
            <a:srgbClr val="15233B"/>
          </a:solidFill>
          <a:ln w="12700">
            <a:solidFill>
              <a:srgbClr val="24365A"/>
            </a:solidFill>
            <a:prstDash val="solid"/>
          </a:ln>
        </p:spPr>
      </p:sp>
      <p:sp>
        <p:nvSpPr>
          <p:cNvPr id="23" name="Shape 21"/>
          <p:cNvSpPr/>
          <p:nvPr/>
        </p:nvSpPr>
        <p:spPr>
          <a:xfrm>
            <a:off x="2176272" y="1572768"/>
            <a:ext cx="384048" cy="384048"/>
          </a:xfrm>
          <a:prstGeom prst="ellipse">
            <a:avLst/>
          </a:prstGeom>
          <a:solidFill>
            <a:srgbClr val="FBBF24"/>
          </a:solidFill>
          <a:ln/>
        </p:spPr>
      </p:sp>
      <p:sp>
        <p:nvSpPr>
          <p:cNvPr id="24" name="Text 22"/>
          <p:cNvSpPr txBox="1"/>
          <p:nvPr/>
        </p:nvSpPr>
        <p:spPr>
          <a:xfrm>
            <a:off x="2176272" y="1572768"/>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25" name="Text 23"/>
          <p:cNvSpPr txBox="1"/>
          <p:nvPr/>
        </p:nvSpPr>
        <p:spPr>
          <a:xfrm>
            <a:off x="2633472" y="1627632"/>
            <a:ext cx="1005840" cy="27432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Last</a:t>
            </a:r>
            <a:endParaRPr lang="en-US" sz="1400" dirty="0"/>
          </a:p>
        </p:txBody>
      </p:sp>
      <p:sp>
        <p:nvSpPr>
          <p:cNvPr id="26" name="Shape 24"/>
          <p:cNvSpPr/>
          <p:nvPr/>
        </p:nvSpPr>
        <p:spPr>
          <a:xfrm>
            <a:off x="2157984" y="2148840"/>
            <a:ext cx="256032" cy="292608"/>
          </a:xfrm>
          <a:prstGeom prst="roundRect">
            <a:avLst>
              <a:gd name="adj" fmla="val 21429"/>
            </a:avLst>
          </a:prstGeom>
          <a:solidFill>
            <a:srgbClr val="22324F"/>
          </a:solidFill>
          <a:ln w="12700">
            <a:solidFill>
              <a:srgbClr val="24365A"/>
            </a:solidFill>
            <a:prstDash val="solid"/>
          </a:ln>
        </p:spPr>
      </p:sp>
      <p:sp>
        <p:nvSpPr>
          <p:cNvPr id="27" name="Text 25"/>
          <p:cNvSpPr txBox="1"/>
          <p:nvPr/>
        </p:nvSpPr>
        <p:spPr>
          <a:xfrm>
            <a:off x="2139696"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8</a:t>
            </a:r>
            <a:endParaRPr lang="en-US" sz="1300" dirty="0"/>
          </a:p>
        </p:txBody>
      </p:sp>
      <p:sp>
        <p:nvSpPr>
          <p:cNvPr id="28" name="Shape 26"/>
          <p:cNvSpPr/>
          <p:nvPr/>
        </p:nvSpPr>
        <p:spPr>
          <a:xfrm>
            <a:off x="2450592" y="2148840"/>
            <a:ext cx="256032" cy="292608"/>
          </a:xfrm>
          <a:prstGeom prst="roundRect">
            <a:avLst>
              <a:gd name="adj" fmla="val 21429"/>
            </a:avLst>
          </a:prstGeom>
          <a:solidFill>
            <a:srgbClr val="22324F"/>
          </a:solidFill>
          <a:ln w="12700">
            <a:solidFill>
              <a:srgbClr val="24365A"/>
            </a:solidFill>
            <a:prstDash val="solid"/>
          </a:ln>
        </p:spPr>
      </p:sp>
      <p:sp>
        <p:nvSpPr>
          <p:cNvPr id="29" name="Text 27"/>
          <p:cNvSpPr txBox="1"/>
          <p:nvPr/>
        </p:nvSpPr>
        <p:spPr>
          <a:xfrm>
            <a:off x="2432304"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3</a:t>
            </a:r>
            <a:endParaRPr lang="en-US" sz="1300" dirty="0"/>
          </a:p>
        </p:txBody>
      </p:sp>
      <p:sp>
        <p:nvSpPr>
          <p:cNvPr id="30" name="Shape 28"/>
          <p:cNvSpPr/>
          <p:nvPr/>
        </p:nvSpPr>
        <p:spPr>
          <a:xfrm>
            <a:off x="2743200" y="2148840"/>
            <a:ext cx="256032" cy="292608"/>
          </a:xfrm>
          <a:prstGeom prst="roundRect">
            <a:avLst>
              <a:gd name="adj" fmla="val 21429"/>
            </a:avLst>
          </a:prstGeom>
          <a:solidFill>
            <a:srgbClr val="22324F"/>
          </a:solidFill>
          <a:ln w="12700">
            <a:solidFill>
              <a:srgbClr val="24365A"/>
            </a:solidFill>
            <a:prstDash val="solid"/>
          </a:ln>
        </p:spPr>
      </p:sp>
      <p:sp>
        <p:nvSpPr>
          <p:cNvPr id="31" name="Text 29"/>
          <p:cNvSpPr txBox="1"/>
          <p:nvPr/>
        </p:nvSpPr>
        <p:spPr>
          <a:xfrm>
            <a:off x="2724912"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5</a:t>
            </a:r>
            <a:endParaRPr lang="en-US" sz="1300" dirty="0"/>
          </a:p>
        </p:txBody>
      </p:sp>
      <p:sp>
        <p:nvSpPr>
          <p:cNvPr id="32" name="Shape 30"/>
          <p:cNvSpPr/>
          <p:nvPr/>
        </p:nvSpPr>
        <p:spPr>
          <a:xfrm>
            <a:off x="3035808" y="2148840"/>
            <a:ext cx="256032" cy="292608"/>
          </a:xfrm>
          <a:prstGeom prst="roundRect">
            <a:avLst>
              <a:gd name="adj" fmla="val 21429"/>
            </a:avLst>
          </a:prstGeom>
          <a:solidFill>
            <a:srgbClr val="22324F"/>
          </a:solidFill>
          <a:ln w="12700">
            <a:solidFill>
              <a:srgbClr val="24365A"/>
            </a:solidFill>
            <a:prstDash val="solid"/>
          </a:ln>
        </p:spPr>
      </p:sp>
      <p:sp>
        <p:nvSpPr>
          <p:cNvPr id="33" name="Text 31"/>
          <p:cNvSpPr txBox="1"/>
          <p:nvPr/>
        </p:nvSpPr>
        <p:spPr>
          <a:xfrm>
            <a:off x="3017520"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9</a:t>
            </a:r>
            <a:endParaRPr lang="en-US" sz="1300" dirty="0"/>
          </a:p>
        </p:txBody>
      </p:sp>
      <p:sp>
        <p:nvSpPr>
          <p:cNvPr id="34" name="Shape 32"/>
          <p:cNvSpPr/>
          <p:nvPr/>
        </p:nvSpPr>
        <p:spPr>
          <a:xfrm>
            <a:off x="3328416" y="2148840"/>
            <a:ext cx="256032" cy="292608"/>
          </a:xfrm>
          <a:prstGeom prst="roundRect">
            <a:avLst>
              <a:gd name="adj" fmla="val 21429"/>
            </a:avLst>
          </a:prstGeom>
          <a:solidFill>
            <a:srgbClr val="FBBF24"/>
          </a:solidFill>
          <a:ln w="12700">
            <a:solidFill>
              <a:srgbClr val="FBBF24"/>
            </a:solidFill>
            <a:prstDash val="solid"/>
          </a:ln>
        </p:spPr>
      </p:sp>
      <p:sp>
        <p:nvSpPr>
          <p:cNvPr id="35" name="Text 33"/>
          <p:cNvSpPr txBox="1"/>
          <p:nvPr/>
        </p:nvSpPr>
        <p:spPr>
          <a:xfrm>
            <a:off x="3310128" y="2148840"/>
            <a:ext cx="292608" cy="29260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6</a:t>
            </a:r>
            <a:endParaRPr lang="en-US" sz="1300" dirty="0"/>
          </a:p>
        </p:txBody>
      </p:sp>
      <p:sp>
        <p:nvSpPr>
          <p:cNvPr id="36" name="Text 34"/>
          <p:cNvSpPr txBox="1"/>
          <p:nvPr/>
        </p:nvSpPr>
        <p:spPr>
          <a:xfrm>
            <a:off x="2157984" y="2560320"/>
            <a:ext cx="1463040" cy="274320"/>
          </a:xfrm>
          <a:prstGeom prst="rect">
            <a:avLst/>
          </a:prstGeom>
          <a:noFill/>
          <a:ln/>
        </p:spPr>
        <p:txBody>
          <a:bodyPr wrap="square" lIns="0" tIns="0" rIns="0" bIns="0" rtlCol="0" anchor="t"/>
          <a:lstStyle/>
          <a:p>
            <a:pPr indent="0" marL="0">
              <a:buNone/>
            </a:pPr>
            <a:r>
              <a:rPr lang="en-US" sz="1200" b="1" dirty="0">
                <a:solidFill>
                  <a:srgbClr val="FBBF24"/>
                </a:solidFill>
                <a:latin typeface="Calibri" pitchFamily="34" charset="0"/>
                <a:ea typeface="Calibri" pitchFamily="34" charset="-122"/>
                <a:cs typeface="Calibri" pitchFamily="34" charset="-120"/>
              </a:rPr>
              <a:t>last index → 6</a:t>
            </a:r>
            <a:endParaRPr lang="en-US" sz="1200" dirty="0"/>
          </a:p>
        </p:txBody>
      </p:sp>
      <p:sp>
        <p:nvSpPr>
          <p:cNvPr id="37" name="Text 35"/>
          <p:cNvSpPr txBox="1"/>
          <p:nvPr/>
        </p:nvSpPr>
        <p:spPr>
          <a:xfrm>
            <a:off x="2157984" y="3017520"/>
            <a:ext cx="1444752" cy="1371600"/>
          </a:xfrm>
          <a:prstGeom prst="rect">
            <a:avLst/>
          </a:prstGeom>
          <a:noFill/>
          <a:ln/>
        </p:spPr>
        <p:txBody>
          <a:bodyPr wrap="square" lIns="0" tIns="0" rIns="0" bIns="0" rtlCol="0" anchor="t"/>
          <a:lstStyle/>
          <a:p>
            <a:pPr indent="0" marL="0">
              <a:spcAft>
                <a:spcPts val="800"/>
              </a:spcAft>
              <a:buNone/>
            </a:pPr>
            <a:r>
              <a:rPr lang="en-US" sz="1300" dirty="0">
                <a:solidFill>
                  <a:srgbClr val="4ADE80"/>
                </a:solidFill>
                <a:latin typeface="Calibri" pitchFamily="34" charset="0"/>
                <a:ea typeface="Calibri" pitchFamily="34" charset="-122"/>
                <a:cs typeface="Calibri" pitchFamily="34" charset="-120"/>
              </a:rPr>
              <a:t>+ Simple, used by Lomuto</a:t>
            </a:r>
            <a:endParaRPr lang="en-US" sz="1300" dirty="0"/>
          </a:p>
          <a:p>
            <a:pPr indent="0" marL="0">
              <a:spcAft>
                <a:spcPts val="800"/>
              </a:spcAft>
              <a:buNone/>
            </a:pPr>
            <a:r>
              <a:rPr lang="en-US" sz="1300" dirty="0">
                <a:solidFill>
                  <a:srgbClr val="FB7185"/>
                </a:solidFill>
                <a:latin typeface="Calibri" pitchFamily="34" charset="0"/>
                <a:ea typeface="Calibri" pitchFamily="34" charset="-122"/>
                <a:cs typeface="Calibri" pitchFamily="34" charset="-120"/>
              </a:rPr>
              <a:t>- Poor on sorted data</a:t>
            </a:r>
            <a:endParaRPr lang="en-US" sz="1300" dirty="0"/>
          </a:p>
        </p:txBody>
      </p:sp>
      <p:sp>
        <p:nvSpPr>
          <p:cNvPr id="38" name="Shape 36"/>
          <p:cNvSpPr/>
          <p:nvPr/>
        </p:nvSpPr>
        <p:spPr>
          <a:xfrm>
            <a:off x="3767328" y="1463040"/>
            <a:ext cx="1609344" cy="3246120"/>
          </a:xfrm>
          <a:prstGeom prst="roundRect">
            <a:avLst>
              <a:gd name="adj" fmla="val 5682"/>
            </a:avLst>
          </a:prstGeom>
          <a:solidFill>
            <a:srgbClr val="15233B"/>
          </a:solidFill>
          <a:ln w="12700">
            <a:solidFill>
              <a:srgbClr val="24365A"/>
            </a:solidFill>
            <a:prstDash val="solid"/>
          </a:ln>
        </p:spPr>
      </p:sp>
      <p:sp>
        <p:nvSpPr>
          <p:cNvPr id="39" name="Shape 37"/>
          <p:cNvSpPr/>
          <p:nvPr/>
        </p:nvSpPr>
        <p:spPr>
          <a:xfrm>
            <a:off x="3877056" y="1572768"/>
            <a:ext cx="384048" cy="384048"/>
          </a:xfrm>
          <a:prstGeom prst="ellipse">
            <a:avLst/>
          </a:prstGeom>
          <a:solidFill>
            <a:srgbClr val="4ADE80"/>
          </a:solidFill>
          <a:ln/>
        </p:spPr>
      </p:sp>
      <p:sp>
        <p:nvSpPr>
          <p:cNvPr id="40" name="Text 38"/>
          <p:cNvSpPr txBox="1"/>
          <p:nvPr/>
        </p:nvSpPr>
        <p:spPr>
          <a:xfrm>
            <a:off x="3877056" y="1572768"/>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41" name="Text 39"/>
          <p:cNvSpPr txBox="1"/>
          <p:nvPr/>
        </p:nvSpPr>
        <p:spPr>
          <a:xfrm>
            <a:off x="4334256" y="1627632"/>
            <a:ext cx="1005840" cy="27432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Middle</a:t>
            </a:r>
            <a:endParaRPr lang="en-US" sz="1400" dirty="0"/>
          </a:p>
        </p:txBody>
      </p:sp>
      <p:sp>
        <p:nvSpPr>
          <p:cNvPr id="42" name="Shape 40"/>
          <p:cNvSpPr/>
          <p:nvPr/>
        </p:nvSpPr>
        <p:spPr>
          <a:xfrm>
            <a:off x="3858768" y="2148840"/>
            <a:ext cx="256032" cy="292608"/>
          </a:xfrm>
          <a:prstGeom prst="roundRect">
            <a:avLst>
              <a:gd name="adj" fmla="val 21429"/>
            </a:avLst>
          </a:prstGeom>
          <a:solidFill>
            <a:srgbClr val="22324F"/>
          </a:solidFill>
          <a:ln w="12700">
            <a:solidFill>
              <a:srgbClr val="24365A"/>
            </a:solidFill>
            <a:prstDash val="solid"/>
          </a:ln>
        </p:spPr>
      </p:sp>
      <p:sp>
        <p:nvSpPr>
          <p:cNvPr id="43" name="Text 41"/>
          <p:cNvSpPr txBox="1"/>
          <p:nvPr/>
        </p:nvSpPr>
        <p:spPr>
          <a:xfrm>
            <a:off x="3840480"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8</a:t>
            </a:r>
            <a:endParaRPr lang="en-US" sz="1300" dirty="0"/>
          </a:p>
        </p:txBody>
      </p:sp>
      <p:sp>
        <p:nvSpPr>
          <p:cNvPr id="44" name="Shape 42"/>
          <p:cNvSpPr/>
          <p:nvPr/>
        </p:nvSpPr>
        <p:spPr>
          <a:xfrm>
            <a:off x="4151376" y="2148840"/>
            <a:ext cx="256032" cy="292608"/>
          </a:xfrm>
          <a:prstGeom prst="roundRect">
            <a:avLst>
              <a:gd name="adj" fmla="val 21429"/>
            </a:avLst>
          </a:prstGeom>
          <a:solidFill>
            <a:srgbClr val="22324F"/>
          </a:solidFill>
          <a:ln w="12700">
            <a:solidFill>
              <a:srgbClr val="24365A"/>
            </a:solidFill>
            <a:prstDash val="solid"/>
          </a:ln>
        </p:spPr>
      </p:sp>
      <p:sp>
        <p:nvSpPr>
          <p:cNvPr id="45" name="Text 43"/>
          <p:cNvSpPr txBox="1"/>
          <p:nvPr/>
        </p:nvSpPr>
        <p:spPr>
          <a:xfrm>
            <a:off x="4133088"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3</a:t>
            </a:r>
            <a:endParaRPr lang="en-US" sz="1300" dirty="0"/>
          </a:p>
        </p:txBody>
      </p:sp>
      <p:sp>
        <p:nvSpPr>
          <p:cNvPr id="46" name="Shape 44"/>
          <p:cNvSpPr/>
          <p:nvPr/>
        </p:nvSpPr>
        <p:spPr>
          <a:xfrm>
            <a:off x="4443984" y="2148840"/>
            <a:ext cx="256032" cy="292608"/>
          </a:xfrm>
          <a:prstGeom prst="roundRect">
            <a:avLst>
              <a:gd name="adj" fmla="val 21429"/>
            </a:avLst>
          </a:prstGeom>
          <a:solidFill>
            <a:srgbClr val="4ADE80"/>
          </a:solidFill>
          <a:ln w="12700">
            <a:solidFill>
              <a:srgbClr val="4ADE80"/>
            </a:solidFill>
            <a:prstDash val="solid"/>
          </a:ln>
        </p:spPr>
      </p:sp>
      <p:sp>
        <p:nvSpPr>
          <p:cNvPr id="47" name="Text 45"/>
          <p:cNvSpPr txBox="1"/>
          <p:nvPr/>
        </p:nvSpPr>
        <p:spPr>
          <a:xfrm>
            <a:off x="4425696" y="2148840"/>
            <a:ext cx="292608" cy="29260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5</a:t>
            </a:r>
            <a:endParaRPr lang="en-US" sz="1300" dirty="0"/>
          </a:p>
        </p:txBody>
      </p:sp>
      <p:sp>
        <p:nvSpPr>
          <p:cNvPr id="48" name="Shape 46"/>
          <p:cNvSpPr/>
          <p:nvPr/>
        </p:nvSpPr>
        <p:spPr>
          <a:xfrm>
            <a:off x="4736592" y="2148840"/>
            <a:ext cx="256032" cy="292608"/>
          </a:xfrm>
          <a:prstGeom prst="roundRect">
            <a:avLst>
              <a:gd name="adj" fmla="val 21429"/>
            </a:avLst>
          </a:prstGeom>
          <a:solidFill>
            <a:srgbClr val="22324F"/>
          </a:solidFill>
          <a:ln w="12700">
            <a:solidFill>
              <a:srgbClr val="24365A"/>
            </a:solidFill>
            <a:prstDash val="solid"/>
          </a:ln>
        </p:spPr>
      </p:sp>
      <p:sp>
        <p:nvSpPr>
          <p:cNvPr id="49" name="Text 47"/>
          <p:cNvSpPr txBox="1"/>
          <p:nvPr/>
        </p:nvSpPr>
        <p:spPr>
          <a:xfrm>
            <a:off x="4718304"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9</a:t>
            </a:r>
            <a:endParaRPr lang="en-US" sz="1300" dirty="0"/>
          </a:p>
        </p:txBody>
      </p:sp>
      <p:sp>
        <p:nvSpPr>
          <p:cNvPr id="50" name="Shape 48"/>
          <p:cNvSpPr/>
          <p:nvPr/>
        </p:nvSpPr>
        <p:spPr>
          <a:xfrm>
            <a:off x="5029200" y="2148840"/>
            <a:ext cx="256032" cy="292608"/>
          </a:xfrm>
          <a:prstGeom prst="roundRect">
            <a:avLst>
              <a:gd name="adj" fmla="val 21429"/>
            </a:avLst>
          </a:prstGeom>
          <a:solidFill>
            <a:srgbClr val="22324F"/>
          </a:solidFill>
          <a:ln w="12700">
            <a:solidFill>
              <a:srgbClr val="24365A"/>
            </a:solidFill>
            <a:prstDash val="solid"/>
          </a:ln>
        </p:spPr>
      </p:sp>
      <p:sp>
        <p:nvSpPr>
          <p:cNvPr id="51" name="Text 49"/>
          <p:cNvSpPr txBox="1"/>
          <p:nvPr/>
        </p:nvSpPr>
        <p:spPr>
          <a:xfrm>
            <a:off x="5010912"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6</a:t>
            </a:r>
            <a:endParaRPr lang="en-US" sz="1300" dirty="0"/>
          </a:p>
        </p:txBody>
      </p:sp>
      <p:sp>
        <p:nvSpPr>
          <p:cNvPr id="52" name="Text 50"/>
          <p:cNvSpPr txBox="1"/>
          <p:nvPr/>
        </p:nvSpPr>
        <p:spPr>
          <a:xfrm>
            <a:off x="3858768" y="2560320"/>
            <a:ext cx="1463040" cy="274320"/>
          </a:xfrm>
          <a:prstGeom prst="rect">
            <a:avLst/>
          </a:prstGeom>
          <a:noFill/>
          <a:ln/>
        </p:spPr>
        <p:txBody>
          <a:bodyPr wrap="square" lIns="0" tIns="0" rIns="0" bIns="0" rtlCol="0" anchor="t"/>
          <a:lstStyle/>
          <a:p>
            <a:pPr indent="0" marL="0">
              <a:buNone/>
            </a:pPr>
            <a:r>
              <a:rPr lang="en-US" sz="1200" b="1" dirty="0">
                <a:solidFill>
                  <a:srgbClr val="4ADE80"/>
                </a:solidFill>
                <a:latin typeface="Calibri" pitchFamily="34" charset="0"/>
                <a:ea typeface="Calibri" pitchFamily="34" charset="-122"/>
                <a:cs typeface="Calibri" pitchFamily="34" charset="-120"/>
              </a:rPr>
              <a:t>middle → 5</a:t>
            </a:r>
            <a:endParaRPr lang="en-US" sz="1200" dirty="0"/>
          </a:p>
        </p:txBody>
      </p:sp>
      <p:sp>
        <p:nvSpPr>
          <p:cNvPr id="53" name="Text 51"/>
          <p:cNvSpPr txBox="1"/>
          <p:nvPr/>
        </p:nvSpPr>
        <p:spPr>
          <a:xfrm>
            <a:off x="3858768" y="3017520"/>
            <a:ext cx="1444752" cy="1371600"/>
          </a:xfrm>
          <a:prstGeom prst="rect">
            <a:avLst/>
          </a:prstGeom>
          <a:noFill/>
          <a:ln/>
        </p:spPr>
        <p:txBody>
          <a:bodyPr wrap="square" lIns="0" tIns="0" rIns="0" bIns="0" rtlCol="0" anchor="t"/>
          <a:lstStyle/>
          <a:p>
            <a:pPr indent="0" marL="0">
              <a:spcAft>
                <a:spcPts val="800"/>
              </a:spcAft>
              <a:buNone/>
            </a:pPr>
            <a:r>
              <a:rPr lang="en-US" sz="1300" dirty="0">
                <a:solidFill>
                  <a:srgbClr val="4ADE80"/>
                </a:solidFill>
                <a:latin typeface="Calibri" pitchFamily="34" charset="0"/>
                <a:ea typeface="Calibri" pitchFamily="34" charset="-122"/>
                <a:cs typeface="Calibri" pitchFamily="34" charset="-120"/>
              </a:rPr>
              <a:t>+ Good on sorted data</a:t>
            </a:r>
            <a:endParaRPr lang="en-US" sz="1300" dirty="0"/>
          </a:p>
          <a:p>
            <a:pPr indent="0" marL="0">
              <a:spcAft>
                <a:spcPts val="800"/>
              </a:spcAft>
              <a:buNone/>
            </a:pPr>
            <a:r>
              <a:rPr lang="en-US" sz="1300" dirty="0">
                <a:solidFill>
                  <a:srgbClr val="FB7185"/>
                </a:solidFill>
                <a:latin typeface="Calibri" pitchFamily="34" charset="0"/>
                <a:ea typeface="Calibri" pitchFamily="34" charset="-122"/>
                <a:cs typeface="Calibri" pitchFamily="34" charset="-120"/>
              </a:rPr>
              <a:t>- Can still be unlucky</a:t>
            </a:r>
            <a:endParaRPr lang="en-US" sz="1300" dirty="0"/>
          </a:p>
        </p:txBody>
      </p:sp>
      <p:sp>
        <p:nvSpPr>
          <p:cNvPr id="54" name="Shape 52"/>
          <p:cNvSpPr/>
          <p:nvPr/>
        </p:nvSpPr>
        <p:spPr>
          <a:xfrm>
            <a:off x="5468112" y="1463040"/>
            <a:ext cx="1609344" cy="3246120"/>
          </a:xfrm>
          <a:prstGeom prst="roundRect">
            <a:avLst>
              <a:gd name="adj" fmla="val 5682"/>
            </a:avLst>
          </a:prstGeom>
          <a:solidFill>
            <a:srgbClr val="15233B"/>
          </a:solidFill>
          <a:ln w="12700">
            <a:solidFill>
              <a:srgbClr val="24365A"/>
            </a:solidFill>
            <a:prstDash val="solid"/>
          </a:ln>
        </p:spPr>
      </p:sp>
      <p:sp>
        <p:nvSpPr>
          <p:cNvPr id="55" name="Shape 53"/>
          <p:cNvSpPr/>
          <p:nvPr/>
        </p:nvSpPr>
        <p:spPr>
          <a:xfrm>
            <a:off x="5577840" y="1572768"/>
            <a:ext cx="384048" cy="384048"/>
          </a:xfrm>
          <a:prstGeom prst="ellipse">
            <a:avLst/>
          </a:prstGeom>
          <a:solidFill>
            <a:srgbClr val="FB7185"/>
          </a:solidFill>
          <a:ln/>
        </p:spPr>
      </p:sp>
      <p:sp>
        <p:nvSpPr>
          <p:cNvPr id="56" name="Text 54"/>
          <p:cNvSpPr txBox="1"/>
          <p:nvPr/>
        </p:nvSpPr>
        <p:spPr>
          <a:xfrm>
            <a:off x="5577840" y="1572768"/>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4</a:t>
            </a:r>
            <a:endParaRPr lang="en-US" sz="1600" dirty="0"/>
          </a:p>
        </p:txBody>
      </p:sp>
      <p:sp>
        <p:nvSpPr>
          <p:cNvPr id="57" name="Text 55"/>
          <p:cNvSpPr txBox="1"/>
          <p:nvPr/>
        </p:nvSpPr>
        <p:spPr>
          <a:xfrm>
            <a:off x="6035040" y="1627632"/>
            <a:ext cx="1005840" cy="27432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Random</a:t>
            </a:r>
            <a:endParaRPr lang="en-US" sz="1400" dirty="0"/>
          </a:p>
        </p:txBody>
      </p:sp>
      <p:sp>
        <p:nvSpPr>
          <p:cNvPr id="58" name="Shape 56"/>
          <p:cNvSpPr/>
          <p:nvPr/>
        </p:nvSpPr>
        <p:spPr>
          <a:xfrm>
            <a:off x="5559552" y="2148840"/>
            <a:ext cx="256032" cy="292608"/>
          </a:xfrm>
          <a:prstGeom prst="roundRect">
            <a:avLst>
              <a:gd name="adj" fmla="val 21429"/>
            </a:avLst>
          </a:prstGeom>
          <a:solidFill>
            <a:srgbClr val="22324F"/>
          </a:solidFill>
          <a:ln w="12700">
            <a:solidFill>
              <a:srgbClr val="24365A"/>
            </a:solidFill>
            <a:prstDash val="solid"/>
          </a:ln>
        </p:spPr>
      </p:sp>
      <p:sp>
        <p:nvSpPr>
          <p:cNvPr id="59" name="Text 57"/>
          <p:cNvSpPr txBox="1"/>
          <p:nvPr/>
        </p:nvSpPr>
        <p:spPr>
          <a:xfrm>
            <a:off x="5541264"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8</a:t>
            </a:r>
            <a:endParaRPr lang="en-US" sz="1300" dirty="0"/>
          </a:p>
        </p:txBody>
      </p:sp>
      <p:sp>
        <p:nvSpPr>
          <p:cNvPr id="60" name="Shape 58"/>
          <p:cNvSpPr/>
          <p:nvPr/>
        </p:nvSpPr>
        <p:spPr>
          <a:xfrm>
            <a:off x="5852160" y="2148840"/>
            <a:ext cx="256032" cy="292608"/>
          </a:xfrm>
          <a:prstGeom prst="roundRect">
            <a:avLst>
              <a:gd name="adj" fmla="val 21429"/>
            </a:avLst>
          </a:prstGeom>
          <a:solidFill>
            <a:srgbClr val="22324F"/>
          </a:solidFill>
          <a:ln w="12700">
            <a:solidFill>
              <a:srgbClr val="24365A"/>
            </a:solidFill>
            <a:prstDash val="solid"/>
          </a:ln>
        </p:spPr>
      </p:sp>
      <p:sp>
        <p:nvSpPr>
          <p:cNvPr id="61" name="Text 59"/>
          <p:cNvSpPr txBox="1"/>
          <p:nvPr/>
        </p:nvSpPr>
        <p:spPr>
          <a:xfrm>
            <a:off x="5833872"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3</a:t>
            </a:r>
            <a:endParaRPr lang="en-US" sz="1300" dirty="0"/>
          </a:p>
        </p:txBody>
      </p:sp>
      <p:sp>
        <p:nvSpPr>
          <p:cNvPr id="62" name="Shape 60"/>
          <p:cNvSpPr/>
          <p:nvPr/>
        </p:nvSpPr>
        <p:spPr>
          <a:xfrm>
            <a:off x="6144768" y="2148840"/>
            <a:ext cx="256032" cy="292608"/>
          </a:xfrm>
          <a:prstGeom prst="roundRect">
            <a:avLst>
              <a:gd name="adj" fmla="val 21429"/>
            </a:avLst>
          </a:prstGeom>
          <a:solidFill>
            <a:srgbClr val="22324F"/>
          </a:solidFill>
          <a:ln w="12700">
            <a:solidFill>
              <a:srgbClr val="24365A"/>
            </a:solidFill>
            <a:prstDash val="solid"/>
          </a:ln>
        </p:spPr>
      </p:sp>
      <p:sp>
        <p:nvSpPr>
          <p:cNvPr id="63" name="Text 61"/>
          <p:cNvSpPr txBox="1"/>
          <p:nvPr/>
        </p:nvSpPr>
        <p:spPr>
          <a:xfrm>
            <a:off x="6126480"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5</a:t>
            </a:r>
            <a:endParaRPr lang="en-US" sz="1300" dirty="0"/>
          </a:p>
        </p:txBody>
      </p:sp>
      <p:sp>
        <p:nvSpPr>
          <p:cNvPr id="64" name="Shape 62"/>
          <p:cNvSpPr/>
          <p:nvPr/>
        </p:nvSpPr>
        <p:spPr>
          <a:xfrm>
            <a:off x="6437376" y="2148840"/>
            <a:ext cx="256032" cy="292608"/>
          </a:xfrm>
          <a:prstGeom prst="roundRect">
            <a:avLst>
              <a:gd name="adj" fmla="val 21429"/>
            </a:avLst>
          </a:prstGeom>
          <a:solidFill>
            <a:srgbClr val="FB7185"/>
          </a:solidFill>
          <a:ln w="12700">
            <a:solidFill>
              <a:srgbClr val="FB7185"/>
            </a:solidFill>
            <a:prstDash val="solid"/>
          </a:ln>
        </p:spPr>
      </p:sp>
      <p:sp>
        <p:nvSpPr>
          <p:cNvPr id="65" name="Text 63"/>
          <p:cNvSpPr txBox="1"/>
          <p:nvPr/>
        </p:nvSpPr>
        <p:spPr>
          <a:xfrm>
            <a:off x="6419088" y="2148840"/>
            <a:ext cx="292608" cy="29260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9</a:t>
            </a:r>
            <a:endParaRPr lang="en-US" sz="1300" dirty="0"/>
          </a:p>
        </p:txBody>
      </p:sp>
      <p:sp>
        <p:nvSpPr>
          <p:cNvPr id="66" name="Shape 64"/>
          <p:cNvSpPr/>
          <p:nvPr/>
        </p:nvSpPr>
        <p:spPr>
          <a:xfrm>
            <a:off x="6729984" y="2148840"/>
            <a:ext cx="256032" cy="292608"/>
          </a:xfrm>
          <a:prstGeom prst="roundRect">
            <a:avLst>
              <a:gd name="adj" fmla="val 21429"/>
            </a:avLst>
          </a:prstGeom>
          <a:solidFill>
            <a:srgbClr val="22324F"/>
          </a:solidFill>
          <a:ln w="12700">
            <a:solidFill>
              <a:srgbClr val="24365A"/>
            </a:solidFill>
            <a:prstDash val="solid"/>
          </a:ln>
        </p:spPr>
      </p:sp>
      <p:sp>
        <p:nvSpPr>
          <p:cNvPr id="67" name="Text 65"/>
          <p:cNvSpPr txBox="1"/>
          <p:nvPr/>
        </p:nvSpPr>
        <p:spPr>
          <a:xfrm>
            <a:off x="6711696"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6</a:t>
            </a:r>
            <a:endParaRPr lang="en-US" sz="1300" dirty="0"/>
          </a:p>
        </p:txBody>
      </p:sp>
      <p:sp>
        <p:nvSpPr>
          <p:cNvPr id="68" name="Text 66"/>
          <p:cNvSpPr txBox="1"/>
          <p:nvPr/>
        </p:nvSpPr>
        <p:spPr>
          <a:xfrm>
            <a:off x="5559552" y="2560320"/>
            <a:ext cx="1463040" cy="274320"/>
          </a:xfrm>
          <a:prstGeom prst="rect">
            <a:avLst/>
          </a:prstGeom>
          <a:noFill/>
          <a:ln/>
        </p:spPr>
        <p:txBody>
          <a:bodyPr wrap="square" lIns="0" tIns="0" rIns="0" bIns="0" rtlCol="0" anchor="t"/>
          <a:lstStyle/>
          <a:p>
            <a:pPr indent="0" marL="0">
              <a:buNone/>
            </a:pPr>
            <a:r>
              <a:rPr lang="en-US" sz="1200" b="1" dirty="0">
                <a:solidFill>
                  <a:srgbClr val="FB7185"/>
                </a:solidFill>
                <a:latin typeface="Calibri" pitchFamily="34" charset="0"/>
                <a:ea typeface="Calibri" pitchFamily="34" charset="-122"/>
                <a:cs typeface="Calibri" pitchFamily="34" charset="-120"/>
              </a:rPr>
              <a:t>random → 9</a:t>
            </a:r>
            <a:endParaRPr lang="en-US" sz="1200" dirty="0"/>
          </a:p>
        </p:txBody>
      </p:sp>
      <p:sp>
        <p:nvSpPr>
          <p:cNvPr id="69" name="Text 67"/>
          <p:cNvSpPr txBox="1"/>
          <p:nvPr/>
        </p:nvSpPr>
        <p:spPr>
          <a:xfrm>
            <a:off x="5559552" y="3017520"/>
            <a:ext cx="1444752" cy="1371600"/>
          </a:xfrm>
          <a:prstGeom prst="rect">
            <a:avLst/>
          </a:prstGeom>
          <a:noFill/>
          <a:ln/>
        </p:spPr>
        <p:txBody>
          <a:bodyPr wrap="square" lIns="0" tIns="0" rIns="0" bIns="0" rtlCol="0" anchor="t"/>
          <a:lstStyle/>
          <a:p>
            <a:pPr indent="0" marL="0">
              <a:spcAft>
                <a:spcPts val="800"/>
              </a:spcAft>
              <a:buNone/>
            </a:pPr>
            <a:r>
              <a:rPr lang="en-US" sz="1300" dirty="0">
                <a:solidFill>
                  <a:srgbClr val="4ADE80"/>
                </a:solidFill>
                <a:latin typeface="Calibri" pitchFamily="34" charset="0"/>
                <a:ea typeface="Calibri" pitchFamily="34" charset="-122"/>
                <a:cs typeface="Calibri" pitchFamily="34" charset="-120"/>
              </a:rPr>
              <a:t>+ Avoids bad patterns</a:t>
            </a:r>
            <a:endParaRPr lang="en-US" sz="1300" dirty="0"/>
          </a:p>
          <a:p>
            <a:pPr indent="0" marL="0">
              <a:spcAft>
                <a:spcPts val="800"/>
              </a:spcAft>
              <a:buNone/>
            </a:pPr>
            <a:r>
              <a:rPr lang="en-US" sz="1300" dirty="0">
                <a:solidFill>
                  <a:srgbClr val="FB7185"/>
                </a:solidFill>
                <a:latin typeface="Calibri" pitchFamily="34" charset="0"/>
                <a:ea typeface="Calibri" pitchFamily="34" charset="-122"/>
                <a:cs typeface="Calibri" pitchFamily="34" charset="-120"/>
              </a:rPr>
              <a:t>- Needs a random source</a:t>
            </a:r>
            <a:endParaRPr lang="en-US" sz="1300" dirty="0"/>
          </a:p>
        </p:txBody>
      </p:sp>
      <p:sp>
        <p:nvSpPr>
          <p:cNvPr id="70" name="Shape 68"/>
          <p:cNvSpPr/>
          <p:nvPr/>
        </p:nvSpPr>
        <p:spPr>
          <a:xfrm>
            <a:off x="7168896" y="1463040"/>
            <a:ext cx="1609344" cy="3246120"/>
          </a:xfrm>
          <a:prstGeom prst="roundRect">
            <a:avLst>
              <a:gd name="adj" fmla="val 5682"/>
            </a:avLst>
          </a:prstGeom>
          <a:solidFill>
            <a:srgbClr val="15233B"/>
          </a:solidFill>
          <a:ln w="12700">
            <a:solidFill>
              <a:srgbClr val="24365A"/>
            </a:solidFill>
            <a:prstDash val="solid"/>
          </a:ln>
        </p:spPr>
      </p:sp>
      <p:sp>
        <p:nvSpPr>
          <p:cNvPr id="71" name="Shape 69"/>
          <p:cNvSpPr/>
          <p:nvPr/>
        </p:nvSpPr>
        <p:spPr>
          <a:xfrm>
            <a:off x="7278624" y="1572768"/>
            <a:ext cx="384048" cy="384048"/>
          </a:xfrm>
          <a:prstGeom prst="ellipse">
            <a:avLst/>
          </a:prstGeom>
          <a:solidFill>
            <a:srgbClr val="A78BFA"/>
          </a:solidFill>
          <a:ln/>
        </p:spPr>
      </p:sp>
      <p:sp>
        <p:nvSpPr>
          <p:cNvPr id="72" name="Text 70"/>
          <p:cNvSpPr txBox="1"/>
          <p:nvPr/>
        </p:nvSpPr>
        <p:spPr>
          <a:xfrm>
            <a:off x="7278624" y="1572768"/>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5</a:t>
            </a:r>
            <a:endParaRPr lang="en-US" sz="1600" dirty="0"/>
          </a:p>
        </p:txBody>
      </p:sp>
      <p:sp>
        <p:nvSpPr>
          <p:cNvPr id="73" name="Text 71"/>
          <p:cNvSpPr txBox="1"/>
          <p:nvPr/>
        </p:nvSpPr>
        <p:spPr>
          <a:xfrm>
            <a:off x="7735824" y="1627632"/>
            <a:ext cx="1005840" cy="27432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Median of 3</a:t>
            </a:r>
            <a:endParaRPr lang="en-US" sz="1400" dirty="0"/>
          </a:p>
        </p:txBody>
      </p:sp>
      <p:sp>
        <p:nvSpPr>
          <p:cNvPr id="74" name="Shape 72"/>
          <p:cNvSpPr/>
          <p:nvPr/>
        </p:nvSpPr>
        <p:spPr>
          <a:xfrm>
            <a:off x="7260336" y="2148840"/>
            <a:ext cx="256032" cy="292608"/>
          </a:xfrm>
          <a:prstGeom prst="roundRect">
            <a:avLst>
              <a:gd name="adj" fmla="val 21429"/>
            </a:avLst>
          </a:prstGeom>
          <a:solidFill>
            <a:srgbClr val="22324F"/>
          </a:solidFill>
          <a:ln w="12700">
            <a:solidFill>
              <a:srgbClr val="24365A"/>
            </a:solidFill>
            <a:prstDash val="solid"/>
          </a:ln>
        </p:spPr>
      </p:sp>
      <p:sp>
        <p:nvSpPr>
          <p:cNvPr id="75" name="Text 73"/>
          <p:cNvSpPr txBox="1"/>
          <p:nvPr/>
        </p:nvSpPr>
        <p:spPr>
          <a:xfrm>
            <a:off x="7242048"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8</a:t>
            </a:r>
            <a:endParaRPr lang="en-US" sz="1300" dirty="0"/>
          </a:p>
        </p:txBody>
      </p:sp>
      <p:sp>
        <p:nvSpPr>
          <p:cNvPr id="76" name="Shape 74"/>
          <p:cNvSpPr/>
          <p:nvPr/>
        </p:nvSpPr>
        <p:spPr>
          <a:xfrm>
            <a:off x="7552944" y="2148840"/>
            <a:ext cx="256032" cy="292608"/>
          </a:xfrm>
          <a:prstGeom prst="roundRect">
            <a:avLst>
              <a:gd name="adj" fmla="val 21429"/>
            </a:avLst>
          </a:prstGeom>
          <a:solidFill>
            <a:srgbClr val="22324F"/>
          </a:solidFill>
          <a:ln w="12700">
            <a:solidFill>
              <a:srgbClr val="24365A"/>
            </a:solidFill>
            <a:prstDash val="solid"/>
          </a:ln>
        </p:spPr>
      </p:sp>
      <p:sp>
        <p:nvSpPr>
          <p:cNvPr id="77" name="Text 75"/>
          <p:cNvSpPr txBox="1"/>
          <p:nvPr/>
        </p:nvSpPr>
        <p:spPr>
          <a:xfrm>
            <a:off x="7534656"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3</a:t>
            </a:r>
            <a:endParaRPr lang="en-US" sz="1300" dirty="0"/>
          </a:p>
        </p:txBody>
      </p:sp>
      <p:sp>
        <p:nvSpPr>
          <p:cNvPr id="78" name="Shape 76"/>
          <p:cNvSpPr/>
          <p:nvPr/>
        </p:nvSpPr>
        <p:spPr>
          <a:xfrm>
            <a:off x="7845552" y="2148840"/>
            <a:ext cx="256032" cy="292608"/>
          </a:xfrm>
          <a:prstGeom prst="roundRect">
            <a:avLst>
              <a:gd name="adj" fmla="val 21429"/>
            </a:avLst>
          </a:prstGeom>
          <a:solidFill>
            <a:srgbClr val="22324F"/>
          </a:solidFill>
          <a:ln w="12700">
            <a:solidFill>
              <a:srgbClr val="24365A"/>
            </a:solidFill>
            <a:prstDash val="solid"/>
          </a:ln>
        </p:spPr>
      </p:sp>
      <p:sp>
        <p:nvSpPr>
          <p:cNvPr id="79" name="Text 77"/>
          <p:cNvSpPr txBox="1"/>
          <p:nvPr/>
        </p:nvSpPr>
        <p:spPr>
          <a:xfrm>
            <a:off x="7827264"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5</a:t>
            </a:r>
            <a:endParaRPr lang="en-US" sz="1300" dirty="0"/>
          </a:p>
        </p:txBody>
      </p:sp>
      <p:sp>
        <p:nvSpPr>
          <p:cNvPr id="80" name="Shape 78"/>
          <p:cNvSpPr/>
          <p:nvPr/>
        </p:nvSpPr>
        <p:spPr>
          <a:xfrm>
            <a:off x="8138160" y="2148840"/>
            <a:ext cx="256032" cy="292608"/>
          </a:xfrm>
          <a:prstGeom prst="roundRect">
            <a:avLst>
              <a:gd name="adj" fmla="val 21429"/>
            </a:avLst>
          </a:prstGeom>
          <a:solidFill>
            <a:srgbClr val="22324F"/>
          </a:solidFill>
          <a:ln w="12700">
            <a:solidFill>
              <a:srgbClr val="24365A"/>
            </a:solidFill>
            <a:prstDash val="solid"/>
          </a:ln>
        </p:spPr>
      </p:sp>
      <p:sp>
        <p:nvSpPr>
          <p:cNvPr id="81" name="Text 79"/>
          <p:cNvSpPr txBox="1"/>
          <p:nvPr/>
        </p:nvSpPr>
        <p:spPr>
          <a:xfrm>
            <a:off x="8119872" y="2148840"/>
            <a:ext cx="292608" cy="292608"/>
          </a:xfrm>
          <a:prstGeom prst="rect">
            <a:avLst/>
          </a:prstGeom>
          <a:noFill/>
          <a:ln/>
        </p:spPr>
        <p:txBody>
          <a:bodyPr wrap="square" lIns="0" tIns="0" rIns="0" bIns="0" rtlCol="0" anchor="ctr"/>
          <a:lstStyle/>
          <a:p>
            <a:pPr algn="ctr" indent="0" marL="0">
              <a:buNone/>
            </a:pPr>
            <a:r>
              <a:rPr lang="en-US" sz="1300" b="1" dirty="0">
                <a:solidFill>
                  <a:srgbClr val="F1F5F9"/>
                </a:solidFill>
                <a:latin typeface="Calibri" pitchFamily="34" charset="0"/>
                <a:ea typeface="Calibri" pitchFamily="34" charset="-122"/>
                <a:cs typeface="Calibri" pitchFamily="34" charset="-120"/>
              </a:rPr>
              <a:t>9</a:t>
            </a:r>
            <a:endParaRPr lang="en-US" sz="1300" dirty="0"/>
          </a:p>
        </p:txBody>
      </p:sp>
      <p:sp>
        <p:nvSpPr>
          <p:cNvPr id="82" name="Shape 80"/>
          <p:cNvSpPr/>
          <p:nvPr/>
        </p:nvSpPr>
        <p:spPr>
          <a:xfrm>
            <a:off x="8430768" y="2148840"/>
            <a:ext cx="256032" cy="292608"/>
          </a:xfrm>
          <a:prstGeom prst="roundRect">
            <a:avLst>
              <a:gd name="adj" fmla="val 21429"/>
            </a:avLst>
          </a:prstGeom>
          <a:solidFill>
            <a:srgbClr val="A78BFA"/>
          </a:solidFill>
          <a:ln w="12700">
            <a:solidFill>
              <a:srgbClr val="A78BFA"/>
            </a:solidFill>
            <a:prstDash val="solid"/>
          </a:ln>
        </p:spPr>
      </p:sp>
      <p:sp>
        <p:nvSpPr>
          <p:cNvPr id="83" name="Text 81"/>
          <p:cNvSpPr txBox="1"/>
          <p:nvPr/>
        </p:nvSpPr>
        <p:spPr>
          <a:xfrm>
            <a:off x="8412480" y="2148840"/>
            <a:ext cx="292608" cy="292608"/>
          </a:xfrm>
          <a:prstGeom prst="rect">
            <a:avLst/>
          </a:prstGeom>
          <a:noFill/>
          <a:ln/>
        </p:spPr>
        <p:txBody>
          <a:bodyPr wrap="square" lIns="0" tIns="0" rIns="0" bIns="0" rtlCol="0" anchor="ctr"/>
          <a:lstStyle/>
          <a:p>
            <a:pPr algn="ctr" indent="0" marL="0">
              <a:buNone/>
            </a:pPr>
            <a:r>
              <a:rPr lang="en-US" sz="1300" b="1" dirty="0">
                <a:solidFill>
                  <a:srgbClr val="0B1220"/>
                </a:solidFill>
                <a:latin typeface="Calibri" pitchFamily="34" charset="0"/>
                <a:ea typeface="Calibri" pitchFamily="34" charset="-122"/>
                <a:cs typeface="Calibri" pitchFamily="34" charset="-120"/>
              </a:rPr>
              <a:t>6</a:t>
            </a:r>
            <a:endParaRPr lang="en-US" sz="1300" dirty="0"/>
          </a:p>
        </p:txBody>
      </p:sp>
      <p:sp>
        <p:nvSpPr>
          <p:cNvPr id="84" name="Text 82"/>
          <p:cNvSpPr txBox="1"/>
          <p:nvPr/>
        </p:nvSpPr>
        <p:spPr>
          <a:xfrm>
            <a:off x="7260336" y="2560320"/>
            <a:ext cx="1463040" cy="274320"/>
          </a:xfrm>
          <a:prstGeom prst="rect">
            <a:avLst/>
          </a:prstGeom>
          <a:noFill/>
          <a:ln/>
        </p:spPr>
        <p:txBody>
          <a:bodyPr wrap="square" lIns="0" tIns="0" rIns="0" bIns="0" rtlCol="0" anchor="t"/>
          <a:lstStyle/>
          <a:p>
            <a:pPr indent="0" marL="0">
              <a:buNone/>
            </a:pPr>
            <a:r>
              <a:rPr lang="en-US" sz="1200" b="1" dirty="0">
                <a:solidFill>
                  <a:srgbClr val="A78BFA"/>
                </a:solidFill>
                <a:latin typeface="Calibri" pitchFamily="34" charset="0"/>
                <a:ea typeface="Calibri" pitchFamily="34" charset="-122"/>
                <a:cs typeface="Calibri" pitchFamily="34" charset="-120"/>
              </a:rPr>
              <a:t>median(8,5,6) → 6</a:t>
            </a:r>
            <a:endParaRPr lang="en-US" sz="1200" dirty="0"/>
          </a:p>
        </p:txBody>
      </p:sp>
      <p:sp>
        <p:nvSpPr>
          <p:cNvPr id="85" name="Text 83"/>
          <p:cNvSpPr txBox="1"/>
          <p:nvPr/>
        </p:nvSpPr>
        <p:spPr>
          <a:xfrm>
            <a:off x="7260336" y="3017520"/>
            <a:ext cx="1444752" cy="1371600"/>
          </a:xfrm>
          <a:prstGeom prst="rect">
            <a:avLst/>
          </a:prstGeom>
          <a:noFill/>
          <a:ln/>
        </p:spPr>
        <p:txBody>
          <a:bodyPr wrap="square" lIns="0" tIns="0" rIns="0" bIns="0" rtlCol="0" anchor="t"/>
          <a:lstStyle/>
          <a:p>
            <a:pPr indent="0" marL="0">
              <a:spcAft>
                <a:spcPts val="800"/>
              </a:spcAft>
              <a:buNone/>
            </a:pPr>
            <a:r>
              <a:rPr lang="en-US" sz="1300" dirty="0">
                <a:solidFill>
                  <a:srgbClr val="4ADE80"/>
                </a:solidFill>
                <a:latin typeface="Calibri" pitchFamily="34" charset="0"/>
                <a:ea typeface="Calibri" pitchFamily="34" charset="-122"/>
                <a:cs typeface="Calibri" pitchFamily="34" charset="-120"/>
              </a:rPr>
              <a:t>+ Balanced splits</a:t>
            </a:r>
            <a:endParaRPr lang="en-US" sz="1300" dirty="0"/>
          </a:p>
          <a:p>
            <a:pPr indent="0" marL="0">
              <a:spcAft>
                <a:spcPts val="800"/>
              </a:spcAft>
              <a:buNone/>
            </a:pPr>
            <a:r>
              <a:rPr lang="en-US" sz="1300" dirty="0">
                <a:solidFill>
                  <a:srgbClr val="FB7185"/>
                </a:solidFill>
                <a:latin typeface="Calibri" pitchFamily="34" charset="0"/>
                <a:ea typeface="Calibri" pitchFamily="34" charset="-122"/>
                <a:cs typeface="Calibri" pitchFamily="34" charset="-120"/>
              </a:rPr>
              <a:t>- Small extra work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THE ARRAY IS SPLIT</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Partitioning Methods</a:t>
            </a:r>
            <a:endParaRPr lang="en-US" sz="3400" dirty="0"/>
          </a:p>
        </p:txBody>
      </p:sp>
      <p:sp>
        <p:nvSpPr>
          <p:cNvPr id="5" name="Shape 3"/>
          <p:cNvSpPr/>
          <p:nvPr/>
        </p:nvSpPr>
        <p:spPr>
          <a:xfrm>
            <a:off x="365760" y="1280160"/>
            <a:ext cx="4114800" cy="3429000"/>
          </a:xfrm>
          <a:prstGeom prst="roundRect">
            <a:avLst>
              <a:gd name="adj" fmla="val 2667"/>
            </a:avLst>
          </a:prstGeom>
          <a:solidFill>
            <a:srgbClr val="15233B"/>
          </a:solidFill>
          <a:ln w="12700">
            <a:solidFill>
              <a:srgbClr val="24365A"/>
            </a:solidFill>
            <a:prstDash val="solid"/>
          </a:ln>
        </p:spPr>
      </p:sp>
      <p:sp>
        <p:nvSpPr>
          <p:cNvPr id="6" name="Shape 4"/>
          <p:cNvSpPr/>
          <p:nvPr/>
        </p:nvSpPr>
        <p:spPr>
          <a:xfrm>
            <a:off x="4663440" y="1280160"/>
            <a:ext cx="4114800" cy="3429000"/>
          </a:xfrm>
          <a:prstGeom prst="roundRect">
            <a:avLst>
              <a:gd name="adj" fmla="val 2667"/>
            </a:avLst>
          </a:prstGeom>
          <a:solidFill>
            <a:srgbClr val="15233B"/>
          </a:solidFill>
          <a:ln w="12700">
            <a:solidFill>
              <a:srgbClr val="24365A"/>
            </a:solidFill>
            <a:prstDash val="solid"/>
          </a:ln>
        </p:spPr>
      </p:sp>
      <p:sp>
        <p:nvSpPr>
          <p:cNvPr id="7" name="Text 5"/>
          <p:cNvSpPr txBox="1"/>
          <p:nvPr/>
        </p:nvSpPr>
        <p:spPr>
          <a:xfrm>
            <a:off x="548640" y="1371600"/>
            <a:ext cx="1828800" cy="320040"/>
          </a:xfrm>
          <a:prstGeom prst="rect">
            <a:avLst/>
          </a:prstGeom>
          <a:noFill/>
          <a:ln/>
        </p:spPr>
        <p:txBody>
          <a:bodyPr wrap="square" lIns="0" tIns="0" rIns="0" bIns="0" rtlCol="0" anchor="t"/>
          <a:lstStyle/>
          <a:p>
            <a:pPr indent="0" marL="0">
              <a:buNone/>
            </a:pPr>
            <a:r>
              <a:rPr lang="en-US" sz="2000" b="1" dirty="0">
                <a:solidFill>
                  <a:srgbClr val="2DD4BF"/>
                </a:solidFill>
                <a:latin typeface="Calibri" pitchFamily="34" charset="0"/>
                <a:ea typeface="Calibri" pitchFamily="34" charset="-122"/>
                <a:cs typeface="Calibri" pitchFamily="34" charset="-120"/>
              </a:rPr>
              <a:t>Lomuto</a:t>
            </a:r>
            <a:endParaRPr lang="en-US" sz="2000" dirty="0"/>
          </a:p>
        </p:txBody>
      </p:sp>
      <p:sp>
        <p:nvSpPr>
          <p:cNvPr id="8" name="Text 6"/>
          <p:cNvSpPr txBox="1"/>
          <p:nvPr/>
        </p:nvSpPr>
        <p:spPr>
          <a:xfrm>
            <a:off x="1828800" y="1444752"/>
            <a:ext cx="2560320" cy="2743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pivot = last element</a:t>
            </a:r>
            <a:endParaRPr lang="en-US" sz="1200" dirty="0"/>
          </a:p>
        </p:txBody>
      </p:sp>
      <p:sp>
        <p:nvSpPr>
          <p:cNvPr id="9" name="Text 7"/>
          <p:cNvSpPr txBox="1"/>
          <p:nvPr/>
        </p:nvSpPr>
        <p:spPr>
          <a:xfrm>
            <a:off x="548640" y="1783080"/>
            <a:ext cx="3749040" cy="640080"/>
          </a:xfrm>
          <a:prstGeom prst="rect">
            <a:avLst/>
          </a:prstGeom>
          <a:noFill/>
          <a:ln/>
        </p:spPr>
        <p:txBody>
          <a:bodyPr wrap="square" lIns="0" tIns="0" rIns="0" bIns="0" rtlCol="0" anchor="t"/>
          <a:lstStyle/>
          <a:p>
            <a:pPr indent="0" marL="0">
              <a:buNone/>
            </a:pPr>
            <a:r>
              <a:rPr lang="en-US" sz="1300" dirty="0">
                <a:solidFill>
                  <a:srgbClr val="F1F5F9"/>
                </a:solidFill>
                <a:latin typeface="Calibri" pitchFamily="34" charset="0"/>
                <a:ea typeface="Calibri" pitchFamily="34" charset="-122"/>
                <a:cs typeface="Calibri" pitchFamily="34" charset="-120"/>
              </a:rPr>
              <a:t>i = low-1, scan j. If A[j] &lt;= pivot: i++, swap. Finally swap pivot with A[i+1].</a:t>
            </a:r>
            <a:endParaRPr lang="en-US" sz="1300" dirty="0"/>
          </a:p>
        </p:txBody>
      </p:sp>
      <p:sp>
        <p:nvSpPr>
          <p:cNvPr id="10" name="Text 8"/>
          <p:cNvSpPr txBox="1"/>
          <p:nvPr/>
        </p:nvSpPr>
        <p:spPr>
          <a:xfrm>
            <a:off x="548640" y="2468880"/>
            <a:ext cx="2743200" cy="182880"/>
          </a:xfrm>
          <a:prstGeom prst="rect">
            <a:avLst/>
          </a:prstGeom>
          <a:noFill/>
          <a:ln/>
        </p:spPr>
        <p:txBody>
          <a:bodyPr wrap="square" lIns="0" tIns="0" rIns="0" bIns="0" rtlCol="0" anchor="t"/>
          <a:lstStyle/>
          <a:p>
            <a:pPr indent="0" marL="0">
              <a:buNone/>
            </a:pPr>
            <a:r>
              <a:rPr lang="en-US" sz="1100" b="1" spc="200" kern="0" dirty="0">
                <a:solidFill>
                  <a:srgbClr val="94A3B8"/>
                </a:solidFill>
                <a:latin typeface="Calibri" pitchFamily="34" charset="0"/>
                <a:ea typeface="Calibri" pitchFamily="34" charset="-122"/>
                <a:cs typeface="Calibri" pitchFamily="34" charset="-120"/>
              </a:rPr>
              <a:t>BEFORE (pivot 4)</a:t>
            </a:r>
            <a:endParaRPr lang="en-US" sz="1100" dirty="0"/>
          </a:p>
        </p:txBody>
      </p:sp>
      <p:sp>
        <p:nvSpPr>
          <p:cNvPr id="11" name="Shape 9"/>
          <p:cNvSpPr/>
          <p:nvPr/>
        </p:nvSpPr>
        <p:spPr>
          <a:xfrm>
            <a:off x="566928" y="2697480"/>
            <a:ext cx="384048" cy="420624"/>
          </a:xfrm>
          <a:prstGeom prst="roundRect">
            <a:avLst>
              <a:gd name="adj" fmla="val 14286"/>
            </a:avLst>
          </a:prstGeom>
          <a:solidFill>
            <a:srgbClr val="22324F"/>
          </a:solidFill>
          <a:ln w="12700">
            <a:solidFill>
              <a:srgbClr val="24365A"/>
            </a:solidFill>
            <a:prstDash val="solid"/>
          </a:ln>
        </p:spPr>
      </p:sp>
      <p:sp>
        <p:nvSpPr>
          <p:cNvPr id="12" name="Text 10"/>
          <p:cNvSpPr txBox="1"/>
          <p:nvPr/>
        </p:nvSpPr>
        <p:spPr>
          <a:xfrm>
            <a:off x="548640"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3</a:t>
            </a:r>
            <a:endParaRPr lang="en-US" sz="1600" dirty="0"/>
          </a:p>
        </p:txBody>
      </p:sp>
      <p:sp>
        <p:nvSpPr>
          <p:cNvPr id="13" name="Shape 11"/>
          <p:cNvSpPr/>
          <p:nvPr/>
        </p:nvSpPr>
        <p:spPr>
          <a:xfrm>
            <a:off x="987552" y="2697480"/>
            <a:ext cx="384048" cy="420624"/>
          </a:xfrm>
          <a:prstGeom prst="roundRect">
            <a:avLst>
              <a:gd name="adj" fmla="val 14286"/>
            </a:avLst>
          </a:prstGeom>
          <a:solidFill>
            <a:srgbClr val="22324F"/>
          </a:solidFill>
          <a:ln w="12700">
            <a:solidFill>
              <a:srgbClr val="24365A"/>
            </a:solidFill>
            <a:prstDash val="solid"/>
          </a:ln>
        </p:spPr>
      </p:sp>
      <p:sp>
        <p:nvSpPr>
          <p:cNvPr id="14" name="Text 12"/>
          <p:cNvSpPr txBox="1"/>
          <p:nvPr/>
        </p:nvSpPr>
        <p:spPr>
          <a:xfrm>
            <a:off x="969264"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7</a:t>
            </a:r>
            <a:endParaRPr lang="en-US" sz="1600" dirty="0"/>
          </a:p>
        </p:txBody>
      </p:sp>
      <p:sp>
        <p:nvSpPr>
          <p:cNvPr id="15" name="Shape 13"/>
          <p:cNvSpPr/>
          <p:nvPr/>
        </p:nvSpPr>
        <p:spPr>
          <a:xfrm>
            <a:off x="1408176" y="2697480"/>
            <a:ext cx="384048" cy="420624"/>
          </a:xfrm>
          <a:prstGeom prst="roundRect">
            <a:avLst>
              <a:gd name="adj" fmla="val 14286"/>
            </a:avLst>
          </a:prstGeom>
          <a:solidFill>
            <a:srgbClr val="22324F"/>
          </a:solidFill>
          <a:ln w="12700">
            <a:solidFill>
              <a:srgbClr val="24365A"/>
            </a:solidFill>
            <a:prstDash val="solid"/>
          </a:ln>
        </p:spPr>
      </p:sp>
      <p:sp>
        <p:nvSpPr>
          <p:cNvPr id="16" name="Text 14"/>
          <p:cNvSpPr txBox="1"/>
          <p:nvPr/>
        </p:nvSpPr>
        <p:spPr>
          <a:xfrm>
            <a:off x="1389888"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a:t>
            </a:r>
            <a:endParaRPr lang="en-US" sz="1600" dirty="0"/>
          </a:p>
        </p:txBody>
      </p:sp>
      <p:sp>
        <p:nvSpPr>
          <p:cNvPr id="17" name="Shape 15"/>
          <p:cNvSpPr/>
          <p:nvPr/>
        </p:nvSpPr>
        <p:spPr>
          <a:xfrm>
            <a:off x="1828800" y="2697480"/>
            <a:ext cx="384048" cy="420624"/>
          </a:xfrm>
          <a:prstGeom prst="roundRect">
            <a:avLst>
              <a:gd name="adj" fmla="val 14286"/>
            </a:avLst>
          </a:prstGeom>
          <a:solidFill>
            <a:srgbClr val="22324F"/>
          </a:solidFill>
          <a:ln w="12700">
            <a:solidFill>
              <a:srgbClr val="24365A"/>
            </a:solidFill>
            <a:prstDash val="solid"/>
          </a:ln>
        </p:spPr>
      </p:sp>
      <p:sp>
        <p:nvSpPr>
          <p:cNvPr id="18" name="Text 16"/>
          <p:cNvSpPr txBox="1"/>
          <p:nvPr/>
        </p:nvSpPr>
        <p:spPr>
          <a:xfrm>
            <a:off x="1810512"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5</a:t>
            </a:r>
            <a:endParaRPr lang="en-US" sz="1600" dirty="0"/>
          </a:p>
        </p:txBody>
      </p:sp>
      <p:sp>
        <p:nvSpPr>
          <p:cNvPr id="19" name="Shape 17"/>
          <p:cNvSpPr/>
          <p:nvPr/>
        </p:nvSpPr>
        <p:spPr>
          <a:xfrm>
            <a:off x="2249424" y="2697480"/>
            <a:ext cx="384048" cy="420624"/>
          </a:xfrm>
          <a:prstGeom prst="roundRect">
            <a:avLst>
              <a:gd name="adj" fmla="val 14286"/>
            </a:avLst>
          </a:prstGeom>
          <a:solidFill>
            <a:srgbClr val="FBBF24"/>
          </a:solidFill>
          <a:ln w="12700">
            <a:solidFill>
              <a:srgbClr val="FBBF24"/>
            </a:solidFill>
            <a:prstDash val="solid"/>
          </a:ln>
        </p:spPr>
      </p:sp>
      <p:sp>
        <p:nvSpPr>
          <p:cNvPr id="20" name="Text 18"/>
          <p:cNvSpPr txBox="1"/>
          <p:nvPr/>
        </p:nvSpPr>
        <p:spPr>
          <a:xfrm>
            <a:off x="2231136" y="269748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548640" y="3200400"/>
            <a:ext cx="2743200" cy="182880"/>
          </a:xfrm>
          <a:prstGeom prst="rect">
            <a:avLst/>
          </a:prstGeom>
          <a:noFill/>
          <a:ln/>
        </p:spPr>
        <p:txBody>
          <a:bodyPr wrap="square" lIns="0" tIns="0" rIns="0" bIns="0" rtlCol="0" anchor="t"/>
          <a:lstStyle/>
          <a:p>
            <a:pPr indent="0" marL="0">
              <a:buNone/>
            </a:pPr>
            <a:r>
              <a:rPr lang="en-US" sz="1100" b="1" spc="200" kern="0" dirty="0">
                <a:solidFill>
                  <a:srgbClr val="94A3B8"/>
                </a:solidFill>
                <a:latin typeface="Calibri" pitchFamily="34" charset="0"/>
                <a:ea typeface="Calibri" pitchFamily="34" charset="-122"/>
                <a:cs typeface="Calibri" pitchFamily="34" charset="-120"/>
              </a:rPr>
              <a:t>AFTER (swap 7,1 then pivot)</a:t>
            </a:r>
            <a:endParaRPr lang="en-US" sz="1100" dirty="0"/>
          </a:p>
        </p:txBody>
      </p:sp>
      <p:sp>
        <p:nvSpPr>
          <p:cNvPr id="22" name="Shape 20"/>
          <p:cNvSpPr/>
          <p:nvPr/>
        </p:nvSpPr>
        <p:spPr>
          <a:xfrm>
            <a:off x="566928" y="3429000"/>
            <a:ext cx="384048" cy="420624"/>
          </a:xfrm>
          <a:prstGeom prst="roundRect">
            <a:avLst>
              <a:gd name="adj" fmla="val 14286"/>
            </a:avLst>
          </a:prstGeom>
          <a:solidFill>
            <a:srgbClr val="22324F"/>
          </a:solidFill>
          <a:ln w="12700">
            <a:solidFill>
              <a:srgbClr val="24365A"/>
            </a:solidFill>
            <a:prstDash val="solid"/>
          </a:ln>
        </p:spPr>
      </p:sp>
      <p:sp>
        <p:nvSpPr>
          <p:cNvPr id="23" name="Text 21"/>
          <p:cNvSpPr txBox="1"/>
          <p:nvPr/>
        </p:nvSpPr>
        <p:spPr>
          <a:xfrm>
            <a:off x="548640" y="342900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3</a:t>
            </a:r>
            <a:endParaRPr lang="en-US" sz="1600" dirty="0"/>
          </a:p>
        </p:txBody>
      </p:sp>
      <p:sp>
        <p:nvSpPr>
          <p:cNvPr id="24" name="Shape 22"/>
          <p:cNvSpPr/>
          <p:nvPr/>
        </p:nvSpPr>
        <p:spPr>
          <a:xfrm>
            <a:off x="987552" y="3429000"/>
            <a:ext cx="384048" cy="420624"/>
          </a:xfrm>
          <a:prstGeom prst="roundRect">
            <a:avLst>
              <a:gd name="adj" fmla="val 14286"/>
            </a:avLst>
          </a:prstGeom>
          <a:solidFill>
            <a:srgbClr val="FB7185"/>
          </a:solidFill>
          <a:ln w="12700">
            <a:solidFill>
              <a:srgbClr val="FB7185"/>
            </a:solidFill>
            <a:prstDash val="solid"/>
          </a:ln>
        </p:spPr>
      </p:sp>
      <p:sp>
        <p:nvSpPr>
          <p:cNvPr id="25" name="Text 23"/>
          <p:cNvSpPr txBox="1"/>
          <p:nvPr/>
        </p:nvSpPr>
        <p:spPr>
          <a:xfrm>
            <a:off x="969264" y="34290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26" name="Shape 24"/>
          <p:cNvSpPr/>
          <p:nvPr/>
        </p:nvSpPr>
        <p:spPr>
          <a:xfrm>
            <a:off x="1408176" y="3429000"/>
            <a:ext cx="384048" cy="420624"/>
          </a:xfrm>
          <a:prstGeom prst="roundRect">
            <a:avLst>
              <a:gd name="adj" fmla="val 14286"/>
            </a:avLst>
          </a:prstGeom>
          <a:solidFill>
            <a:srgbClr val="4ADE80"/>
          </a:solidFill>
          <a:ln w="12700">
            <a:solidFill>
              <a:srgbClr val="4ADE80"/>
            </a:solidFill>
            <a:prstDash val="solid"/>
          </a:ln>
        </p:spPr>
      </p:sp>
      <p:sp>
        <p:nvSpPr>
          <p:cNvPr id="27" name="Text 25"/>
          <p:cNvSpPr txBox="1"/>
          <p:nvPr/>
        </p:nvSpPr>
        <p:spPr>
          <a:xfrm>
            <a:off x="1389888" y="34290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4</a:t>
            </a:r>
            <a:endParaRPr lang="en-US" sz="1600" dirty="0"/>
          </a:p>
        </p:txBody>
      </p:sp>
      <p:sp>
        <p:nvSpPr>
          <p:cNvPr id="28" name="Shape 26"/>
          <p:cNvSpPr/>
          <p:nvPr/>
        </p:nvSpPr>
        <p:spPr>
          <a:xfrm>
            <a:off x="1828800" y="3429000"/>
            <a:ext cx="384048" cy="420624"/>
          </a:xfrm>
          <a:prstGeom prst="roundRect">
            <a:avLst>
              <a:gd name="adj" fmla="val 14286"/>
            </a:avLst>
          </a:prstGeom>
          <a:solidFill>
            <a:srgbClr val="22324F"/>
          </a:solidFill>
          <a:ln w="12700">
            <a:solidFill>
              <a:srgbClr val="24365A"/>
            </a:solidFill>
            <a:prstDash val="solid"/>
          </a:ln>
        </p:spPr>
      </p:sp>
      <p:sp>
        <p:nvSpPr>
          <p:cNvPr id="29" name="Text 27"/>
          <p:cNvSpPr txBox="1"/>
          <p:nvPr/>
        </p:nvSpPr>
        <p:spPr>
          <a:xfrm>
            <a:off x="1810512" y="342900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5</a:t>
            </a:r>
            <a:endParaRPr lang="en-US" sz="1600" dirty="0"/>
          </a:p>
        </p:txBody>
      </p:sp>
      <p:sp>
        <p:nvSpPr>
          <p:cNvPr id="30" name="Shape 28"/>
          <p:cNvSpPr/>
          <p:nvPr/>
        </p:nvSpPr>
        <p:spPr>
          <a:xfrm>
            <a:off x="2249424" y="3429000"/>
            <a:ext cx="384048" cy="420624"/>
          </a:xfrm>
          <a:prstGeom prst="roundRect">
            <a:avLst>
              <a:gd name="adj" fmla="val 14286"/>
            </a:avLst>
          </a:prstGeom>
          <a:solidFill>
            <a:srgbClr val="22324F"/>
          </a:solidFill>
          <a:ln w="12700">
            <a:solidFill>
              <a:srgbClr val="24365A"/>
            </a:solidFill>
            <a:prstDash val="solid"/>
          </a:ln>
        </p:spPr>
      </p:sp>
      <p:sp>
        <p:nvSpPr>
          <p:cNvPr id="31" name="Text 29"/>
          <p:cNvSpPr txBox="1"/>
          <p:nvPr/>
        </p:nvSpPr>
        <p:spPr>
          <a:xfrm>
            <a:off x="2231136" y="342900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7</a:t>
            </a:r>
            <a:endParaRPr lang="en-US" sz="1600" dirty="0"/>
          </a:p>
        </p:txBody>
      </p:sp>
      <p:sp>
        <p:nvSpPr>
          <p:cNvPr id="32" name="Text 30"/>
          <p:cNvSpPr txBox="1"/>
          <p:nvPr/>
        </p:nvSpPr>
        <p:spPr>
          <a:xfrm>
            <a:off x="548640" y="3977640"/>
            <a:ext cx="3749040" cy="640080"/>
          </a:xfrm>
          <a:prstGeom prst="rect">
            <a:avLst/>
          </a:prstGeom>
          <a:noFill/>
          <a:ln/>
        </p:spPr>
        <p:txBody>
          <a:bodyPr wrap="square" lIns="0" tIns="0" rIns="0" bIns="0" rtlCol="0" anchor="t"/>
          <a:lstStyle/>
          <a:p>
            <a:pPr indent="0" marL="0">
              <a:buNone/>
            </a:pPr>
            <a:r>
              <a:rPr lang="en-US" sz="1300" b="1" dirty="0">
                <a:solidFill>
                  <a:srgbClr val="2DD4BF"/>
                </a:solidFill>
                <a:latin typeface="Calibri" pitchFamily="34" charset="0"/>
                <a:ea typeface="Calibri" pitchFamily="34" charset="-122"/>
                <a:cs typeface="Calibri" pitchFamily="34" charset="-120"/>
              </a:rPr>
              <a:t>Returns the pivot index p. Pivot is final. Recurse (low, p-1) and (p+1, high).</a:t>
            </a:r>
            <a:endParaRPr lang="en-US" sz="1300" dirty="0"/>
          </a:p>
        </p:txBody>
      </p:sp>
      <p:sp>
        <p:nvSpPr>
          <p:cNvPr id="33" name="Text 31"/>
          <p:cNvSpPr txBox="1"/>
          <p:nvPr/>
        </p:nvSpPr>
        <p:spPr>
          <a:xfrm>
            <a:off x="4846320" y="1371600"/>
            <a:ext cx="1828800" cy="320040"/>
          </a:xfrm>
          <a:prstGeom prst="rect">
            <a:avLst/>
          </a:prstGeom>
          <a:noFill/>
          <a:ln/>
        </p:spPr>
        <p:txBody>
          <a:bodyPr wrap="square" lIns="0" tIns="0" rIns="0" bIns="0" rtlCol="0" anchor="t"/>
          <a:lstStyle/>
          <a:p>
            <a:pPr indent="0" marL="0">
              <a:buNone/>
            </a:pPr>
            <a:r>
              <a:rPr lang="en-US" sz="2000" b="1" dirty="0">
                <a:solidFill>
                  <a:srgbClr val="FB7185"/>
                </a:solidFill>
                <a:latin typeface="Calibri" pitchFamily="34" charset="0"/>
                <a:ea typeface="Calibri" pitchFamily="34" charset="-122"/>
                <a:cs typeface="Calibri" pitchFamily="34" charset="-120"/>
              </a:rPr>
              <a:t>Hoare</a:t>
            </a:r>
            <a:endParaRPr lang="en-US" sz="2000" dirty="0"/>
          </a:p>
        </p:txBody>
      </p:sp>
      <p:sp>
        <p:nvSpPr>
          <p:cNvPr id="34" name="Text 32"/>
          <p:cNvSpPr txBox="1"/>
          <p:nvPr/>
        </p:nvSpPr>
        <p:spPr>
          <a:xfrm>
            <a:off x="5943600" y="1444752"/>
            <a:ext cx="2560320" cy="27432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pivot = first element</a:t>
            </a:r>
            <a:endParaRPr lang="en-US" sz="1200" dirty="0"/>
          </a:p>
        </p:txBody>
      </p:sp>
      <p:sp>
        <p:nvSpPr>
          <p:cNvPr id="35" name="Text 33"/>
          <p:cNvSpPr txBox="1"/>
          <p:nvPr/>
        </p:nvSpPr>
        <p:spPr>
          <a:xfrm>
            <a:off x="4846320" y="1783080"/>
            <a:ext cx="3749040" cy="640080"/>
          </a:xfrm>
          <a:prstGeom prst="rect">
            <a:avLst/>
          </a:prstGeom>
          <a:noFill/>
          <a:ln/>
        </p:spPr>
        <p:txBody>
          <a:bodyPr wrap="square" lIns="0" tIns="0" rIns="0" bIns="0" rtlCol="0" anchor="t"/>
          <a:lstStyle/>
          <a:p>
            <a:pPr indent="0" marL="0">
              <a:buNone/>
            </a:pPr>
            <a:r>
              <a:rPr lang="en-US" sz="1300" dirty="0">
                <a:solidFill>
                  <a:srgbClr val="F1F5F9"/>
                </a:solidFill>
                <a:latin typeface="Calibri" pitchFamily="34" charset="0"/>
                <a:ea typeface="Calibri" pitchFamily="34" charset="-122"/>
                <a:cs typeface="Calibri" pitchFamily="34" charset="-120"/>
              </a:rPr>
              <a:t>i moves right to A[i] &gt;= pivot, j moves left to A[j] &lt;= pivot. Swap if i &lt; j, else stop.</a:t>
            </a:r>
            <a:endParaRPr lang="en-US" sz="1300" dirty="0"/>
          </a:p>
        </p:txBody>
      </p:sp>
      <p:sp>
        <p:nvSpPr>
          <p:cNvPr id="36" name="Text 34"/>
          <p:cNvSpPr txBox="1"/>
          <p:nvPr/>
        </p:nvSpPr>
        <p:spPr>
          <a:xfrm>
            <a:off x="4846320" y="2468880"/>
            <a:ext cx="2743200" cy="182880"/>
          </a:xfrm>
          <a:prstGeom prst="rect">
            <a:avLst/>
          </a:prstGeom>
          <a:noFill/>
          <a:ln/>
        </p:spPr>
        <p:txBody>
          <a:bodyPr wrap="square" lIns="0" tIns="0" rIns="0" bIns="0" rtlCol="0" anchor="t"/>
          <a:lstStyle/>
          <a:p>
            <a:pPr indent="0" marL="0">
              <a:buNone/>
            </a:pPr>
            <a:r>
              <a:rPr lang="en-US" sz="1100" b="1" spc="200" kern="0" dirty="0">
                <a:solidFill>
                  <a:srgbClr val="94A3B8"/>
                </a:solidFill>
                <a:latin typeface="Calibri" pitchFamily="34" charset="0"/>
                <a:ea typeface="Calibri" pitchFamily="34" charset="-122"/>
                <a:cs typeface="Calibri" pitchFamily="34" charset="-120"/>
              </a:rPr>
              <a:t>BEFORE (pivot 5)</a:t>
            </a:r>
            <a:endParaRPr lang="en-US" sz="1100" dirty="0"/>
          </a:p>
        </p:txBody>
      </p:sp>
      <p:sp>
        <p:nvSpPr>
          <p:cNvPr id="37" name="Shape 35"/>
          <p:cNvSpPr/>
          <p:nvPr/>
        </p:nvSpPr>
        <p:spPr>
          <a:xfrm>
            <a:off x="4864608" y="2697480"/>
            <a:ext cx="384048" cy="420624"/>
          </a:xfrm>
          <a:prstGeom prst="roundRect">
            <a:avLst>
              <a:gd name="adj" fmla="val 14286"/>
            </a:avLst>
          </a:prstGeom>
          <a:solidFill>
            <a:srgbClr val="FBBF24"/>
          </a:solidFill>
          <a:ln w="12700">
            <a:solidFill>
              <a:srgbClr val="FBBF24"/>
            </a:solidFill>
            <a:prstDash val="solid"/>
          </a:ln>
        </p:spPr>
      </p:sp>
      <p:sp>
        <p:nvSpPr>
          <p:cNvPr id="38" name="Text 36"/>
          <p:cNvSpPr txBox="1"/>
          <p:nvPr/>
        </p:nvSpPr>
        <p:spPr>
          <a:xfrm>
            <a:off x="4846320" y="269748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5</a:t>
            </a:r>
            <a:endParaRPr lang="en-US" sz="1600" dirty="0"/>
          </a:p>
        </p:txBody>
      </p:sp>
      <p:sp>
        <p:nvSpPr>
          <p:cNvPr id="39" name="Shape 37"/>
          <p:cNvSpPr/>
          <p:nvPr/>
        </p:nvSpPr>
        <p:spPr>
          <a:xfrm>
            <a:off x="5285232" y="2697480"/>
            <a:ext cx="384048" cy="420624"/>
          </a:xfrm>
          <a:prstGeom prst="roundRect">
            <a:avLst>
              <a:gd name="adj" fmla="val 14286"/>
            </a:avLst>
          </a:prstGeom>
          <a:solidFill>
            <a:srgbClr val="22324F"/>
          </a:solidFill>
          <a:ln w="12700">
            <a:solidFill>
              <a:srgbClr val="24365A"/>
            </a:solidFill>
            <a:prstDash val="solid"/>
          </a:ln>
        </p:spPr>
      </p:sp>
      <p:sp>
        <p:nvSpPr>
          <p:cNvPr id="40" name="Text 38"/>
          <p:cNvSpPr txBox="1"/>
          <p:nvPr/>
        </p:nvSpPr>
        <p:spPr>
          <a:xfrm>
            <a:off x="5266944"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8</a:t>
            </a:r>
            <a:endParaRPr lang="en-US" sz="1600" dirty="0"/>
          </a:p>
        </p:txBody>
      </p:sp>
      <p:sp>
        <p:nvSpPr>
          <p:cNvPr id="41" name="Shape 39"/>
          <p:cNvSpPr/>
          <p:nvPr/>
        </p:nvSpPr>
        <p:spPr>
          <a:xfrm>
            <a:off x="5705856" y="2697480"/>
            <a:ext cx="384048" cy="420624"/>
          </a:xfrm>
          <a:prstGeom prst="roundRect">
            <a:avLst>
              <a:gd name="adj" fmla="val 14286"/>
            </a:avLst>
          </a:prstGeom>
          <a:solidFill>
            <a:srgbClr val="22324F"/>
          </a:solidFill>
          <a:ln w="12700">
            <a:solidFill>
              <a:srgbClr val="24365A"/>
            </a:solidFill>
            <a:prstDash val="solid"/>
          </a:ln>
        </p:spPr>
      </p:sp>
      <p:sp>
        <p:nvSpPr>
          <p:cNvPr id="42" name="Text 40"/>
          <p:cNvSpPr txBox="1"/>
          <p:nvPr/>
        </p:nvSpPr>
        <p:spPr>
          <a:xfrm>
            <a:off x="5687568"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2</a:t>
            </a:r>
            <a:endParaRPr lang="en-US" sz="1600" dirty="0"/>
          </a:p>
        </p:txBody>
      </p:sp>
      <p:sp>
        <p:nvSpPr>
          <p:cNvPr id="43" name="Shape 41"/>
          <p:cNvSpPr/>
          <p:nvPr/>
        </p:nvSpPr>
        <p:spPr>
          <a:xfrm>
            <a:off x="6126480" y="2697480"/>
            <a:ext cx="384048" cy="420624"/>
          </a:xfrm>
          <a:prstGeom prst="roundRect">
            <a:avLst>
              <a:gd name="adj" fmla="val 14286"/>
            </a:avLst>
          </a:prstGeom>
          <a:solidFill>
            <a:srgbClr val="22324F"/>
          </a:solidFill>
          <a:ln w="12700">
            <a:solidFill>
              <a:srgbClr val="24365A"/>
            </a:solidFill>
            <a:prstDash val="solid"/>
          </a:ln>
        </p:spPr>
      </p:sp>
      <p:sp>
        <p:nvSpPr>
          <p:cNvPr id="44" name="Text 42"/>
          <p:cNvSpPr txBox="1"/>
          <p:nvPr/>
        </p:nvSpPr>
        <p:spPr>
          <a:xfrm>
            <a:off x="6108192"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9</a:t>
            </a:r>
            <a:endParaRPr lang="en-US" sz="1600" dirty="0"/>
          </a:p>
        </p:txBody>
      </p:sp>
      <p:sp>
        <p:nvSpPr>
          <p:cNvPr id="45" name="Shape 43"/>
          <p:cNvSpPr/>
          <p:nvPr/>
        </p:nvSpPr>
        <p:spPr>
          <a:xfrm>
            <a:off x="6547104" y="2697480"/>
            <a:ext cx="384048" cy="420624"/>
          </a:xfrm>
          <a:prstGeom prst="roundRect">
            <a:avLst>
              <a:gd name="adj" fmla="val 14286"/>
            </a:avLst>
          </a:prstGeom>
          <a:solidFill>
            <a:srgbClr val="22324F"/>
          </a:solidFill>
          <a:ln w="12700">
            <a:solidFill>
              <a:srgbClr val="24365A"/>
            </a:solidFill>
            <a:prstDash val="solid"/>
          </a:ln>
        </p:spPr>
      </p:sp>
      <p:sp>
        <p:nvSpPr>
          <p:cNvPr id="46" name="Text 44"/>
          <p:cNvSpPr txBox="1"/>
          <p:nvPr/>
        </p:nvSpPr>
        <p:spPr>
          <a:xfrm>
            <a:off x="6528816"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a:t>
            </a:r>
            <a:endParaRPr lang="en-US" sz="1600" dirty="0"/>
          </a:p>
        </p:txBody>
      </p:sp>
      <p:sp>
        <p:nvSpPr>
          <p:cNvPr id="47" name="Shape 45"/>
          <p:cNvSpPr/>
          <p:nvPr/>
        </p:nvSpPr>
        <p:spPr>
          <a:xfrm>
            <a:off x="6967728" y="2697480"/>
            <a:ext cx="384048" cy="420624"/>
          </a:xfrm>
          <a:prstGeom prst="roundRect">
            <a:avLst>
              <a:gd name="adj" fmla="val 14286"/>
            </a:avLst>
          </a:prstGeom>
          <a:solidFill>
            <a:srgbClr val="22324F"/>
          </a:solidFill>
          <a:ln w="12700">
            <a:solidFill>
              <a:srgbClr val="24365A"/>
            </a:solidFill>
            <a:prstDash val="solid"/>
          </a:ln>
        </p:spPr>
      </p:sp>
      <p:sp>
        <p:nvSpPr>
          <p:cNvPr id="48" name="Text 46"/>
          <p:cNvSpPr txBox="1"/>
          <p:nvPr/>
        </p:nvSpPr>
        <p:spPr>
          <a:xfrm>
            <a:off x="6949440" y="26974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6</a:t>
            </a:r>
            <a:endParaRPr lang="en-US" sz="1600" dirty="0"/>
          </a:p>
        </p:txBody>
      </p:sp>
      <p:sp>
        <p:nvSpPr>
          <p:cNvPr id="49" name="Text 47"/>
          <p:cNvSpPr txBox="1"/>
          <p:nvPr/>
        </p:nvSpPr>
        <p:spPr>
          <a:xfrm>
            <a:off x="4846320" y="3200400"/>
            <a:ext cx="2743200" cy="182880"/>
          </a:xfrm>
          <a:prstGeom prst="rect">
            <a:avLst/>
          </a:prstGeom>
          <a:noFill/>
          <a:ln/>
        </p:spPr>
        <p:txBody>
          <a:bodyPr wrap="square" lIns="0" tIns="0" rIns="0" bIns="0" rtlCol="0" anchor="t"/>
          <a:lstStyle/>
          <a:p>
            <a:pPr indent="0" marL="0">
              <a:buNone/>
            </a:pPr>
            <a:r>
              <a:rPr lang="en-US" sz="1100" b="1" spc="200" kern="0" dirty="0">
                <a:solidFill>
                  <a:srgbClr val="94A3B8"/>
                </a:solidFill>
                <a:latin typeface="Calibri" pitchFamily="34" charset="0"/>
                <a:ea typeface="Calibri" pitchFamily="34" charset="-122"/>
                <a:cs typeface="Calibri" pitchFamily="34" charset="-120"/>
              </a:rPr>
              <a:t>AFTER (swap 5,1 then 8,2)</a:t>
            </a:r>
            <a:endParaRPr lang="en-US" sz="1100" dirty="0"/>
          </a:p>
        </p:txBody>
      </p:sp>
      <p:sp>
        <p:nvSpPr>
          <p:cNvPr id="50" name="Shape 48"/>
          <p:cNvSpPr/>
          <p:nvPr/>
        </p:nvSpPr>
        <p:spPr>
          <a:xfrm>
            <a:off x="4864608" y="3429000"/>
            <a:ext cx="384048" cy="420624"/>
          </a:xfrm>
          <a:prstGeom prst="roundRect">
            <a:avLst>
              <a:gd name="adj" fmla="val 14286"/>
            </a:avLst>
          </a:prstGeom>
          <a:solidFill>
            <a:srgbClr val="FB7185"/>
          </a:solidFill>
          <a:ln w="12700">
            <a:solidFill>
              <a:srgbClr val="FB7185"/>
            </a:solidFill>
            <a:prstDash val="solid"/>
          </a:ln>
        </p:spPr>
      </p:sp>
      <p:sp>
        <p:nvSpPr>
          <p:cNvPr id="51" name="Text 49"/>
          <p:cNvSpPr txBox="1"/>
          <p:nvPr/>
        </p:nvSpPr>
        <p:spPr>
          <a:xfrm>
            <a:off x="4846320" y="34290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52" name="Shape 50"/>
          <p:cNvSpPr/>
          <p:nvPr/>
        </p:nvSpPr>
        <p:spPr>
          <a:xfrm>
            <a:off x="5285232" y="3429000"/>
            <a:ext cx="384048" cy="420624"/>
          </a:xfrm>
          <a:prstGeom prst="roundRect">
            <a:avLst>
              <a:gd name="adj" fmla="val 14286"/>
            </a:avLst>
          </a:prstGeom>
          <a:solidFill>
            <a:srgbClr val="FB7185"/>
          </a:solidFill>
          <a:ln w="12700">
            <a:solidFill>
              <a:srgbClr val="FB7185"/>
            </a:solidFill>
            <a:prstDash val="solid"/>
          </a:ln>
        </p:spPr>
      </p:sp>
      <p:sp>
        <p:nvSpPr>
          <p:cNvPr id="53" name="Text 51"/>
          <p:cNvSpPr txBox="1"/>
          <p:nvPr/>
        </p:nvSpPr>
        <p:spPr>
          <a:xfrm>
            <a:off x="5266944" y="3429000"/>
            <a:ext cx="420624" cy="420624"/>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54" name="Shape 52"/>
          <p:cNvSpPr/>
          <p:nvPr/>
        </p:nvSpPr>
        <p:spPr>
          <a:xfrm>
            <a:off x="5870448" y="3429000"/>
            <a:ext cx="384048" cy="420624"/>
          </a:xfrm>
          <a:prstGeom prst="roundRect">
            <a:avLst>
              <a:gd name="adj" fmla="val 14286"/>
            </a:avLst>
          </a:prstGeom>
          <a:solidFill>
            <a:srgbClr val="22324F"/>
          </a:solidFill>
          <a:ln w="12700">
            <a:solidFill>
              <a:srgbClr val="24365A"/>
            </a:solidFill>
            <a:prstDash val="solid"/>
          </a:ln>
        </p:spPr>
      </p:sp>
      <p:sp>
        <p:nvSpPr>
          <p:cNvPr id="55" name="Text 53"/>
          <p:cNvSpPr txBox="1"/>
          <p:nvPr/>
        </p:nvSpPr>
        <p:spPr>
          <a:xfrm>
            <a:off x="5852160" y="342900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8</a:t>
            </a:r>
            <a:endParaRPr lang="en-US" sz="1600" dirty="0"/>
          </a:p>
        </p:txBody>
      </p:sp>
      <p:sp>
        <p:nvSpPr>
          <p:cNvPr id="56" name="Shape 54"/>
          <p:cNvSpPr/>
          <p:nvPr/>
        </p:nvSpPr>
        <p:spPr>
          <a:xfrm>
            <a:off x="6291072" y="3429000"/>
            <a:ext cx="384048" cy="420624"/>
          </a:xfrm>
          <a:prstGeom prst="roundRect">
            <a:avLst>
              <a:gd name="adj" fmla="val 14286"/>
            </a:avLst>
          </a:prstGeom>
          <a:solidFill>
            <a:srgbClr val="22324F"/>
          </a:solidFill>
          <a:ln w="12700">
            <a:solidFill>
              <a:srgbClr val="24365A"/>
            </a:solidFill>
            <a:prstDash val="solid"/>
          </a:ln>
        </p:spPr>
      </p:sp>
      <p:sp>
        <p:nvSpPr>
          <p:cNvPr id="57" name="Text 55"/>
          <p:cNvSpPr txBox="1"/>
          <p:nvPr/>
        </p:nvSpPr>
        <p:spPr>
          <a:xfrm>
            <a:off x="6272784" y="342900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9</a:t>
            </a:r>
            <a:endParaRPr lang="en-US" sz="1600" dirty="0"/>
          </a:p>
        </p:txBody>
      </p:sp>
      <p:sp>
        <p:nvSpPr>
          <p:cNvPr id="58" name="Shape 56"/>
          <p:cNvSpPr/>
          <p:nvPr/>
        </p:nvSpPr>
        <p:spPr>
          <a:xfrm>
            <a:off x="6711696" y="3429000"/>
            <a:ext cx="384048" cy="420624"/>
          </a:xfrm>
          <a:prstGeom prst="roundRect">
            <a:avLst>
              <a:gd name="adj" fmla="val 14286"/>
            </a:avLst>
          </a:prstGeom>
          <a:solidFill>
            <a:srgbClr val="22324F"/>
          </a:solidFill>
          <a:ln w="12700">
            <a:solidFill>
              <a:srgbClr val="24365A"/>
            </a:solidFill>
            <a:prstDash val="solid"/>
          </a:ln>
        </p:spPr>
      </p:sp>
      <p:sp>
        <p:nvSpPr>
          <p:cNvPr id="59" name="Text 57"/>
          <p:cNvSpPr txBox="1"/>
          <p:nvPr/>
        </p:nvSpPr>
        <p:spPr>
          <a:xfrm>
            <a:off x="6693408" y="342900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5</a:t>
            </a:r>
            <a:endParaRPr lang="en-US" sz="1600" dirty="0"/>
          </a:p>
        </p:txBody>
      </p:sp>
      <p:sp>
        <p:nvSpPr>
          <p:cNvPr id="60" name="Shape 58"/>
          <p:cNvSpPr/>
          <p:nvPr/>
        </p:nvSpPr>
        <p:spPr>
          <a:xfrm>
            <a:off x="7132320" y="3429000"/>
            <a:ext cx="384048" cy="420624"/>
          </a:xfrm>
          <a:prstGeom prst="roundRect">
            <a:avLst>
              <a:gd name="adj" fmla="val 14286"/>
            </a:avLst>
          </a:prstGeom>
          <a:solidFill>
            <a:srgbClr val="22324F"/>
          </a:solidFill>
          <a:ln w="12700">
            <a:solidFill>
              <a:srgbClr val="24365A"/>
            </a:solidFill>
            <a:prstDash val="solid"/>
          </a:ln>
        </p:spPr>
      </p:sp>
      <p:sp>
        <p:nvSpPr>
          <p:cNvPr id="61" name="Text 59"/>
          <p:cNvSpPr txBox="1"/>
          <p:nvPr/>
        </p:nvSpPr>
        <p:spPr>
          <a:xfrm>
            <a:off x="7114032" y="342900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6</a:t>
            </a:r>
            <a:endParaRPr lang="en-US" sz="1600" dirty="0"/>
          </a:p>
        </p:txBody>
      </p:sp>
      <p:sp>
        <p:nvSpPr>
          <p:cNvPr id="62" name="Text 60"/>
          <p:cNvSpPr txBox="1"/>
          <p:nvPr/>
        </p:nvSpPr>
        <p:spPr>
          <a:xfrm>
            <a:off x="4846320" y="3977640"/>
            <a:ext cx="3749040" cy="640080"/>
          </a:xfrm>
          <a:prstGeom prst="rect">
            <a:avLst/>
          </a:prstGeom>
          <a:noFill/>
          <a:ln/>
        </p:spPr>
        <p:txBody>
          <a:bodyPr wrap="square" lIns="0" tIns="0" rIns="0" bIns="0" rtlCol="0" anchor="t"/>
          <a:lstStyle/>
          <a:p>
            <a:pPr indent="0" marL="0">
              <a:buNone/>
            </a:pPr>
            <a:r>
              <a:rPr lang="en-US" sz="1300" b="1" dirty="0">
                <a:solidFill>
                  <a:srgbClr val="FB7185"/>
                </a:solidFill>
                <a:latin typeface="Calibri" pitchFamily="34" charset="0"/>
                <a:ea typeface="Calibri" pitchFamily="34" charset="-122"/>
                <a:cs typeface="Calibri" pitchFamily="34" charset="-120"/>
              </a:rPr>
              <a:t>Returns boundary j = 1. Pivot may not be final. Recurse (low, j) and (j+1, high).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THE BIG PICTURE</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Algorithm and Pseudocode</a:t>
            </a:r>
            <a:endParaRPr lang="en-US" sz="3400" dirty="0"/>
          </a:p>
        </p:txBody>
      </p:sp>
      <p:sp>
        <p:nvSpPr>
          <p:cNvPr id="5" name="Shape 3"/>
          <p:cNvSpPr/>
          <p:nvPr/>
        </p:nvSpPr>
        <p:spPr>
          <a:xfrm>
            <a:off x="365760" y="1280160"/>
            <a:ext cx="3931920" cy="3429000"/>
          </a:xfrm>
          <a:prstGeom prst="roundRect">
            <a:avLst>
              <a:gd name="adj" fmla="val 2667"/>
            </a:avLst>
          </a:prstGeom>
          <a:solidFill>
            <a:srgbClr val="15233B"/>
          </a:solidFill>
          <a:ln w="12700">
            <a:solidFill>
              <a:srgbClr val="24365A"/>
            </a:solidFill>
            <a:prstDash val="solid"/>
          </a:ln>
        </p:spPr>
      </p:sp>
      <p:sp>
        <p:nvSpPr>
          <p:cNvPr id="6" name="Text 4"/>
          <p:cNvSpPr txBox="1"/>
          <p:nvPr/>
        </p:nvSpPr>
        <p:spPr>
          <a:xfrm>
            <a:off x="594360" y="1417320"/>
            <a:ext cx="3566160" cy="3200400"/>
          </a:xfrm>
          <a:prstGeom prst="rect">
            <a:avLst/>
          </a:prstGeom>
          <a:noFill/>
          <a:ln/>
        </p:spPr>
        <p:txBody>
          <a:bodyPr wrap="square" lIns="0" tIns="0" rIns="0" bIns="0" rtlCol="0" anchor="t"/>
          <a:lstStyle/>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1  Start with an unsorted array</a:t>
            </a:r>
            <a:endParaRPr lang="en-US" sz="1500" dirty="0"/>
          </a:p>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2  More than one element?</a:t>
            </a:r>
            <a:endParaRPr lang="en-US" sz="1500" dirty="0"/>
          </a:p>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3  Select a pivot</a:t>
            </a:r>
            <a:endParaRPr lang="en-US" sz="1500" dirty="0"/>
          </a:p>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4  Partition around the pivot</a:t>
            </a:r>
            <a:endParaRPr lang="en-US" sz="1500" dirty="0"/>
          </a:p>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5  Sort the left subarray</a:t>
            </a:r>
            <a:endParaRPr lang="en-US" sz="1500" dirty="0"/>
          </a:p>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6  Sort the right subarray</a:t>
            </a:r>
            <a:endParaRPr lang="en-US" sz="1500" dirty="0"/>
          </a:p>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7  Stop at size 0 or 1</a:t>
            </a:r>
            <a:endParaRPr lang="en-US" sz="1500" dirty="0"/>
          </a:p>
          <a:p>
            <a:pPr indent="0" marL="0">
              <a:spcAft>
                <a:spcPts val="700"/>
              </a:spcAft>
              <a:buNone/>
            </a:pPr>
            <a:r>
              <a:rPr lang="en-US" sz="1500" dirty="0">
                <a:solidFill>
                  <a:srgbClr val="F1F5F9"/>
                </a:solidFill>
                <a:latin typeface="Calibri" pitchFamily="34" charset="0"/>
                <a:ea typeface="Calibri" pitchFamily="34" charset="-122"/>
                <a:cs typeface="Calibri" pitchFamily="34" charset="-120"/>
              </a:rPr>
              <a:t>8  Array is sorted</a:t>
            </a:r>
            <a:endParaRPr lang="en-US" sz="1500" dirty="0"/>
          </a:p>
        </p:txBody>
      </p:sp>
      <p:sp>
        <p:nvSpPr>
          <p:cNvPr id="7" name="Shape 5"/>
          <p:cNvSpPr/>
          <p:nvPr/>
        </p:nvSpPr>
        <p:spPr>
          <a:xfrm>
            <a:off x="4480560" y="1280160"/>
            <a:ext cx="4297680" cy="1600200"/>
          </a:xfrm>
          <a:prstGeom prst="roundRect">
            <a:avLst>
              <a:gd name="adj" fmla="val 5714"/>
            </a:avLst>
          </a:prstGeom>
          <a:solidFill>
            <a:srgbClr val="060B14"/>
          </a:solidFill>
          <a:ln w="12700">
            <a:solidFill>
              <a:srgbClr val="060B14"/>
            </a:solidFill>
            <a:prstDash val="solid"/>
          </a:ln>
        </p:spPr>
      </p:sp>
      <p:sp>
        <p:nvSpPr>
          <p:cNvPr id="8" name="Text 6"/>
          <p:cNvSpPr txBox="1"/>
          <p:nvPr/>
        </p:nvSpPr>
        <p:spPr>
          <a:xfrm>
            <a:off x="4663440" y="1417320"/>
            <a:ext cx="4023360" cy="1371600"/>
          </a:xfrm>
          <a:prstGeom prst="rect">
            <a:avLst/>
          </a:prstGeom>
          <a:noFill/>
          <a:ln/>
        </p:spPr>
        <p:txBody>
          <a:bodyPr wrap="square" lIns="0" tIns="0" rIns="0" bIns="0" rtlCol="0" anchor="t"/>
          <a:lstStyle/>
          <a:p>
            <a:pPr indent="0" marL="0">
              <a:buNone/>
            </a:pPr>
            <a:r>
              <a:rPr lang="en-US" sz="1300" dirty="0">
                <a:solidFill>
                  <a:srgbClr val="2DD4BF"/>
                </a:solidFill>
                <a:latin typeface="Courier New" pitchFamily="34" charset="0"/>
                <a:ea typeface="Courier New" pitchFamily="34" charset="-122"/>
                <a:cs typeface="Courier New" pitchFamily="34" charset="-120"/>
              </a:rPr>
              <a:t>QUICKSORT(A, low, high):</a:t>
            </a:r>
            <a:endParaRPr lang="en-US" sz="1300" dirty="0"/>
          </a:p>
          <a:p>
            <a:pPr indent="0" marL="0">
              <a:buNone/>
            </a:pPr>
            <a:r>
              <a:rPr lang="en-US" sz="1300" dirty="0">
                <a:solidFill>
                  <a:srgbClr val="2DD4BF"/>
                </a:solidFill>
                <a:latin typeface="Courier New" pitchFamily="34" charset="0"/>
                <a:ea typeface="Courier New" pitchFamily="34" charset="-122"/>
                <a:cs typeface="Courier New" pitchFamily="34" charset="-120"/>
              </a:rPr>
              <a:t>  if low &lt; high:</a:t>
            </a:r>
            <a:endParaRPr lang="en-US" sz="1300" dirty="0"/>
          </a:p>
          <a:p>
            <a:pPr indent="0" marL="0">
              <a:buNone/>
            </a:pPr>
            <a:r>
              <a:rPr lang="en-US" sz="1300" dirty="0">
                <a:solidFill>
                  <a:srgbClr val="2DD4BF"/>
                </a:solidFill>
                <a:latin typeface="Courier New" pitchFamily="34" charset="0"/>
                <a:ea typeface="Courier New" pitchFamily="34" charset="-122"/>
                <a:cs typeface="Courier New" pitchFamily="34" charset="-120"/>
              </a:rPr>
              <a:t>    p = PARTITION(A, low, high)</a:t>
            </a:r>
            <a:endParaRPr lang="en-US" sz="1300" dirty="0"/>
          </a:p>
          <a:p>
            <a:pPr indent="0" marL="0">
              <a:buNone/>
            </a:pPr>
            <a:r>
              <a:rPr lang="en-US" sz="1300" dirty="0">
                <a:solidFill>
                  <a:srgbClr val="2DD4BF"/>
                </a:solidFill>
                <a:latin typeface="Courier New" pitchFamily="34" charset="0"/>
                <a:ea typeface="Courier New" pitchFamily="34" charset="-122"/>
                <a:cs typeface="Courier New" pitchFamily="34" charset="-120"/>
              </a:rPr>
              <a:t>    QUICKSORT(A, low, p - 1)</a:t>
            </a:r>
            <a:endParaRPr lang="en-US" sz="1300" dirty="0"/>
          </a:p>
          <a:p>
            <a:pPr indent="0" marL="0">
              <a:buNone/>
            </a:pPr>
            <a:r>
              <a:rPr lang="en-US" sz="1300" dirty="0">
                <a:solidFill>
                  <a:srgbClr val="2DD4BF"/>
                </a:solidFill>
                <a:latin typeface="Courier New" pitchFamily="34" charset="0"/>
                <a:ea typeface="Courier New" pitchFamily="34" charset="-122"/>
                <a:cs typeface="Courier New" pitchFamily="34" charset="-120"/>
              </a:rPr>
              <a:t>    QUICKSORT(A, p + 1, high)</a:t>
            </a:r>
            <a:endParaRPr lang="en-US" sz="1300" dirty="0"/>
          </a:p>
        </p:txBody>
      </p:sp>
      <p:sp>
        <p:nvSpPr>
          <p:cNvPr id="9" name="Shape 7"/>
          <p:cNvSpPr/>
          <p:nvPr/>
        </p:nvSpPr>
        <p:spPr>
          <a:xfrm>
            <a:off x="4480560" y="3017520"/>
            <a:ext cx="4297680" cy="1691640"/>
          </a:xfrm>
          <a:prstGeom prst="roundRect">
            <a:avLst>
              <a:gd name="adj" fmla="val 5405"/>
            </a:avLst>
          </a:prstGeom>
          <a:solidFill>
            <a:srgbClr val="15233B"/>
          </a:solidFill>
          <a:ln w="12700">
            <a:solidFill>
              <a:srgbClr val="24365A"/>
            </a:solidFill>
            <a:prstDash val="solid"/>
          </a:ln>
        </p:spPr>
      </p:sp>
      <p:sp>
        <p:nvSpPr>
          <p:cNvPr id="10" name="Text 8"/>
          <p:cNvSpPr txBox="1"/>
          <p:nvPr/>
        </p:nvSpPr>
        <p:spPr>
          <a:xfrm>
            <a:off x="4663440" y="3127248"/>
            <a:ext cx="3931920" cy="1508760"/>
          </a:xfrm>
          <a:prstGeom prst="rect">
            <a:avLst/>
          </a:prstGeom>
          <a:noFill/>
          <a:ln/>
        </p:spPr>
        <p:txBody>
          <a:bodyPr wrap="square" lIns="0" tIns="0" rIns="0" bIns="0" rtlCol="0" anchor="t"/>
          <a:lstStyle/>
          <a:p>
            <a:pPr indent="0" marL="0">
              <a:spcAft>
                <a:spcPts val="500"/>
              </a:spcAft>
              <a:buNone/>
            </a:pPr>
            <a:r>
              <a:rPr lang="en-US" sz="1300" dirty="0">
                <a:solidFill>
                  <a:srgbClr val="F1F5F9"/>
                </a:solidFill>
                <a:latin typeface="Calibri" pitchFamily="34" charset="0"/>
                <a:ea typeface="Calibri" pitchFamily="34" charset="-122"/>
                <a:cs typeface="Calibri" pitchFamily="34" charset="-120"/>
              </a:rPr>
              <a:t>• if low &lt; high: more than 1 element, else stop</a:t>
            </a:r>
            <a:endParaRPr lang="en-US" sz="1300" dirty="0"/>
          </a:p>
          <a:p>
            <a:pPr indent="0" marL="0">
              <a:spcAft>
                <a:spcPts val="500"/>
              </a:spcAft>
              <a:buNone/>
            </a:pPr>
            <a:r>
              <a:rPr lang="en-US" sz="1300" dirty="0">
                <a:solidFill>
                  <a:srgbClr val="F1F5F9"/>
                </a:solidFill>
                <a:latin typeface="Calibri" pitchFamily="34" charset="0"/>
                <a:ea typeface="Calibri" pitchFamily="34" charset="-122"/>
                <a:cs typeface="Calibri" pitchFamily="34" charset="-120"/>
              </a:rPr>
              <a:t>• PARTITION places the pivot, returns index p</a:t>
            </a:r>
            <a:endParaRPr lang="en-US" sz="1300" dirty="0"/>
          </a:p>
          <a:p>
            <a:pPr indent="0" marL="0">
              <a:spcAft>
                <a:spcPts val="500"/>
              </a:spcAft>
              <a:buNone/>
            </a:pPr>
            <a:r>
              <a:rPr lang="en-US" sz="1300" dirty="0">
                <a:solidFill>
                  <a:srgbClr val="F1F5F9"/>
                </a:solidFill>
                <a:latin typeface="Calibri" pitchFamily="34" charset="0"/>
                <a:ea typeface="Calibri" pitchFamily="34" charset="-122"/>
                <a:cs typeface="Calibri" pitchFamily="34" charset="-120"/>
              </a:rPr>
              <a:t>• Two calls sort the left and right parts</a:t>
            </a:r>
            <a:endParaRPr lang="en-US" sz="1300" dirty="0"/>
          </a:p>
          <a:p>
            <a:pPr indent="0" marL="0">
              <a:spcAft>
                <a:spcPts val="500"/>
              </a:spcAft>
              <a:buNone/>
            </a:pPr>
            <a:r>
              <a:rPr lang="en-US" sz="1300" dirty="0">
                <a:solidFill>
                  <a:srgbClr val="F1F5F9"/>
                </a:solidFill>
                <a:latin typeface="Calibri" pitchFamily="34" charset="0"/>
                <a:ea typeface="Calibri" pitchFamily="34" charset="-122"/>
                <a:cs typeface="Calibri" pitchFamily="34" charset="-120"/>
              </a:rPr>
              <a:t>• Hoare uses (low, j) and (j+1, high)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05</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LOMUTO, LAST ELEMENT AS PIVOT</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Worked Example</a:t>
            </a:r>
            <a:endParaRPr lang="en-US" sz="3400" dirty="0"/>
          </a:p>
        </p:txBody>
      </p:sp>
      <p:sp>
        <p:nvSpPr>
          <p:cNvPr id="5" name="Shape 3"/>
          <p:cNvSpPr/>
          <p:nvPr/>
        </p:nvSpPr>
        <p:spPr>
          <a:xfrm>
            <a:off x="365760" y="1188720"/>
            <a:ext cx="4754880" cy="676656"/>
          </a:xfrm>
          <a:prstGeom prst="roundRect">
            <a:avLst>
              <a:gd name="adj" fmla="val 13514"/>
            </a:avLst>
          </a:prstGeom>
          <a:solidFill>
            <a:srgbClr val="15233B"/>
          </a:solidFill>
          <a:ln w="12700">
            <a:solidFill>
              <a:srgbClr val="24365A"/>
            </a:solidFill>
            <a:prstDash val="solid"/>
          </a:ln>
        </p:spPr>
      </p:sp>
      <p:sp>
        <p:nvSpPr>
          <p:cNvPr id="6" name="Text 4"/>
          <p:cNvSpPr txBox="1"/>
          <p:nvPr/>
        </p:nvSpPr>
        <p:spPr>
          <a:xfrm>
            <a:off x="502920" y="1234440"/>
            <a:ext cx="4480560" cy="182880"/>
          </a:xfrm>
          <a:prstGeom prst="rect">
            <a:avLst/>
          </a:prstGeom>
          <a:noFill/>
          <a:ln/>
        </p:spPr>
        <p:txBody>
          <a:bodyPr wrap="square" lIns="0" tIns="0" rIns="0" bIns="0" rtlCol="0" anchor="t"/>
          <a:lstStyle/>
          <a:p>
            <a:pPr indent="0" marL="0">
              <a:buNone/>
            </a:pPr>
            <a:r>
              <a:rPr lang="en-US" sz="1100" b="1" dirty="0">
                <a:solidFill>
                  <a:srgbClr val="94A3B8"/>
                </a:solidFill>
                <a:latin typeface="Calibri" pitchFamily="34" charset="0"/>
                <a:ea typeface="Calibri" pitchFamily="34" charset="-122"/>
                <a:cs typeface="Calibri" pitchFamily="34" charset="-120"/>
              </a:rPr>
              <a:t>START: i = -1, pivot = 2</a:t>
            </a:r>
            <a:endParaRPr lang="en-US" sz="1100" dirty="0"/>
          </a:p>
        </p:txBody>
      </p:sp>
      <p:sp>
        <p:nvSpPr>
          <p:cNvPr id="7" name="Shape 5"/>
          <p:cNvSpPr/>
          <p:nvPr/>
        </p:nvSpPr>
        <p:spPr>
          <a:xfrm>
            <a:off x="521208" y="1463040"/>
            <a:ext cx="329184" cy="329184"/>
          </a:xfrm>
          <a:prstGeom prst="roundRect">
            <a:avLst>
              <a:gd name="adj" fmla="val 16667"/>
            </a:avLst>
          </a:prstGeom>
          <a:solidFill>
            <a:srgbClr val="22324F"/>
          </a:solidFill>
          <a:ln w="12700">
            <a:solidFill>
              <a:srgbClr val="24365A"/>
            </a:solidFill>
            <a:prstDash val="solid"/>
          </a:ln>
        </p:spPr>
      </p:sp>
      <p:sp>
        <p:nvSpPr>
          <p:cNvPr id="8" name="Text 6"/>
          <p:cNvSpPr txBox="1"/>
          <p:nvPr/>
        </p:nvSpPr>
        <p:spPr>
          <a:xfrm>
            <a:off x="502920" y="1463040"/>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8</a:t>
            </a:r>
            <a:endParaRPr lang="en-US" sz="1400" dirty="0"/>
          </a:p>
        </p:txBody>
      </p:sp>
      <p:sp>
        <p:nvSpPr>
          <p:cNvPr id="9" name="Shape 7"/>
          <p:cNvSpPr/>
          <p:nvPr/>
        </p:nvSpPr>
        <p:spPr>
          <a:xfrm>
            <a:off x="886968" y="1463040"/>
            <a:ext cx="329184" cy="329184"/>
          </a:xfrm>
          <a:prstGeom prst="roundRect">
            <a:avLst>
              <a:gd name="adj" fmla="val 16667"/>
            </a:avLst>
          </a:prstGeom>
          <a:solidFill>
            <a:srgbClr val="22324F"/>
          </a:solidFill>
          <a:ln w="12700">
            <a:solidFill>
              <a:srgbClr val="24365A"/>
            </a:solidFill>
            <a:prstDash val="solid"/>
          </a:ln>
        </p:spPr>
      </p:sp>
      <p:sp>
        <p:nvSpPr>
          <p:cNvPr id="10" name="Text 8"/>
          <p:cNvSpPr txBox="1"/>
          <p:nvPr/>
        </p:nvSpPr>
        <p:spPr>
          <a:xfrm>
            <a:off x="868680" y="1463040"/>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3</a:t>
            </a:r>
            <a:endParaRPr lang="en-US" sz="1400" dirty="0"/>
          </a:p>
        </p:txBody>
      </p:sp>
      <p:sp>
        <p:nvSpPr>
          <p:cNvPr id="11" name="Shape 9"/>
          <p:cNvSpPr/>
          <p:nvPr/>
        </p:nvSpPr>
        <p:spPr>
          <a:xfrm>
            <a:off x="1252728" y="1463040"/>
            <a:ext cx="329184" cy="329184"/>
          </a:xfrm>
          <a:prstGeom prst="roundRect">
            <a:avLst>
              <a:gd name="adj" fmla="val 16667"/>
            </a:avLst>
          </a:prstGeom>
          <a:solidFill>
            <a:srgbClr val="22324F"/>
          </a:solidFill>
          <a:ln w="12700">
            <a:solidFill>
              <a:srgbClr val="24365A"/>
            </a:solidFill>
            <a:prstDash val="solid"/>
          </a:ln>
        </p:spPr>
      </p:sp>
      <p:sp>
        <p:nvSpPr>
          <p:cNvPr id="12" name="Text 10"/>
          <p:cNvSpPr txBox="1"/>
          <p:nvPr/>
        </p:nvSpPr>
        <p:spPr>
          <a:xfrm>
            <a:off x="1234440" y="1463040"/>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a:t>
            </a:r>
            <a:endParaRPr lang="en-US" sz="1400" dirty="0"/>
          </a:p>
        </p:txBody>
      </p:sp>
      <p:sp>
        <p:nvSpPr>
          <p:cNvPr id="13" name="Shape 11"/>
          <p:cNvSpPr/>
          <p:nvPr/>
        </p:nvSpPr>
        <p:spPr>
          <a:xfrm>
            <a:off x="1618488" y="1463040"/>
            <a:ext cx="329184" cy="329184"/>
          </a:xfrm>
          <a:prstGeom prst="roundRect">
            <a:avLst>
              <a:gd name="adj" fmla="val 16667"/>
            </a:avLst>
          </a:prstGeom>
          <a:solidFill>
            <a:srgbClr val="22324F"/>
          </a:solidFill>
          <a:ln w="12700">
            <a:solidFill>
              <a:srgbClr val="24365A"/>
            </a:solidFill>
            <a:prstDash val="solid"/>
          </a:ln>
        </p:spPr>
      </p:sp>
      <p:sp>
        <p:nvSpPr>
          <p:cNvPr id="14" name="Text 12"/>
          <p:cNvSpPr txBox="1"/>
          <p:nvPr/>
        </p:nvSpPr>
        <p:spPr>
          <a:xfrm>
            <a:off x="1600200" y="1463040"/>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7</a:t>
            </a:r>
            <a:endParaRPr lang="en-US" sz="1400" dirty="0"/>
          </a:p>
        </p:txBody>
      </p:sp>
      <p:sp>
        <p:nvSpPr>
          <p:cNvPr id="15" name="Shape 13"/>
          <p:cNvSpPr/>
          <p:nvPr/>
        </p:nvSpPr>
        <p:spPr>
          <a:xfrm>
            <a:off x="1984248" y="1463040"/>
            <a:ext cx="329184" cy="329184"/>
          </a:xfrm>
          <a:prstGeom prst="roundRect">
            <a:avLst>
              <a:gd name="adj" fmla="val 16667"/>
            </a:avLst>
          </a:prstGeom>
          <a:solidFill>
            <a:srgbClr val="22324F"/>
          </a:solidFill>
          <a:ln w="12700">
            <a:solidFill>
              <a:srgbClr val="24365A"/>
            </a:solidFill>
            <a:prstDash val="solid"/>
          </a:ln>
        </p:spPr>
      </p:sp>
      <p:sp>
        <p:nvSpPr>
          <p:cNvPr id="16" name="Text 14"/>
          <p:cNvSpPr txBox="1"/>
          <p:nvPr/>
        </p:nvSpPr>
        <p:spPr>
          <a:xfrm>
            <a:off x="1965960" y="1463040"/>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0</a:t>
            </a:r>
            <a:endParaRPr lang="en-US" sz="1400" dirty="0"/>
          </a:p>
        </p:txBody>
      </p:sp>
      <p:sp>
        <p:nvSpPr>
          <p:cNvPr id="17" name="Shape 15"/>
          <p:cNvSpPr/>
          <p:nvPr/>
        </p:nvSpPr>
        <p:spPr>
          <a:xfrm>
            <a:off x="2350008" y="1463040"/>
            <a:ext cx="329184" cy="329184"/>
          </a:xfrm>
          <a:prstGeom prst="roundRect">
            <a:avLst>
              <a:gd name="adj" fmla="val 16667"/>
            </a:avLst>
          </a:prstGeom>
          <a:solidFill>
            <a:srgbClr val="22324F"/>
          </a:solidFill>
          <a:ln w="12700">
            <a:solidFill>
              <a:srgbClr val="24365A"/>
            </a:solidFill>
            <a:prstDash val="solid"/>
          </a:ln>
        </p:spPr>
      </p:sp>
      <p:sp>
        <p:nvSpPr>
          <p:cNvPr id="18" name="Text 16"/>
          <p:cNvSpPr txBox="1"/>
          <p:nvPr/>
        </p:nvSpPr>
        <p:spPr>
          <a:xfrm>
            <a:off x="2331720" y="1463040"/>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10</a:t>
            </a:r>
            <a:endParaRPr lang="en-US" sz="1400" dirty="0"/>
          </a:p>
        </p:txBody>
      </p:sp>
      <p:sp>
        <p:nvSpPr>
          <p:cNvPr id="19" name="Shape 17"/>
          <p:cNvSpPr/>
          <p:nvPr/>
        </p:nvSpPr>
        <p:spPr>
          <a:xfrm>
            <a:off x="2715768" y="1463040"/>
            <a:ext cx="329184" cy="329184"/>
          </a:xfrm>
          <a:prstGeom prst="roundRect">
            <a:avLst>
              <a:gd name="adj" fmla="val 16667"/>
            </a:avLst>
          </a:prstGeom>
          <a:solidFill>
            <a:srgbClr val="FBBF24"/>
          </a:solidFill>
          <a:ln w="12700">
            <a:solidFill>
              <a:srgbClr val="FBBF24"/>
            </a:solidFill>
            <a:prstDash val="solid"/>
          </a:ln>
        </p:spPr>
      </p:sp>
      <p:sp>
        <p:nvSpPr>
          <p:cNvPr id="20" name="Text 18"/>
          <p:cNvSpPr txBox="1"/>
          <p:nvPr/>
        </p:nvSpPr>
        <p:spPr>
          <a:xfrm>
            <a:off x="2697480" y="1463040"/>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21" name="Shape 19"/>
          <p:cNvSpPr/>
          <p:nvPr/>
        </p:nvSpPr>
        <p:spPr>
          <a:xfrm>
            <a:off x="365760" y="1938528"/>
            <a:ext cx="4754880" cy="676656"/>
          </a:xfrm>
          <a:prstGeom prst="roundRect">
            <a:avLst>
              <a:gd name="adj" fmla="val 13514"/>
            </a:avLst>
          </a:prstGeom>
          <a:solidFill>
            <a:srgbClr val="15233B"/>
          </a:solidFill>
          <a:ln w="12700">
            <a:solidFill>
              <a:srgbClr val="24365A"/>
            </a:solidFill>
            <a:prstDash val="solid"/>
          </a:ln>
        </p:spPr>
      </p:sp>
      <p:sp>
        <p:nvSpPr>
          <p:cNvPr id="22" name="Text 20"/>
          <p:cNvSpPr txBox="1"/>
          <p:nvPr/>
        </p:nvSpPr>
        <p:spPr>
          <a:xfrm>
            <a:off x="502920" y="1984248"/>
            <a:ext cx="4480560" cy="182880"/>
          </a:xfrm>
          <a:prstGeom prst="rect">
            <a:avLst/>
          </a:prstGeom>
          <a:noFill/>
          <a:ln/>
        </p:spPr>
        <p:txBody>
          <a:bodyPr wrap="square" lIns="0" tIns="0" rIns="0" bIns="0" rtlCol="0" anchor="t"/>
          <a:lstStyle/>
          <a:p>
            <a:pPr indent="0" marL="0">
              <a:buNone/>
            </a:pPr>
            <a:r>
              <a:rPr lang="en-US" sz="1100" b="1" dirty="0">
                <a:solidFill>
                  <a:srgbClr val="94A3B8"/>
                </a:solidFill>
                <a:latin typeface="Calibri" pitchFamily="34" charset="0"/>
                <a:ea typeface="Calibri" pitchFamily="34" charset="-122"/>
                <a:cs typeface="Calibri" pitchFamily="34" charset="-120"/>
              </a:rPr>
              <a:t>j=2: 1 &lt;= 2, i=0, swap A[0] and A[2]</a:t>
            </a:r>
            <a:endParaRPr lang="en-US" sz="1100" dirty="0"/>
          </a:p>
        </p:txBody>
      </p:sp>
      <p:sp>
        <p:nvSpPr>
          <p:cNvPr id="23" name="Shape 21"/>
          <p:cNvSpPr/>
          <p:nvPr/>
        </p:nvSpPr>
        <p:spPr>
          <a:xfrm>
            <a:off x="521208" y="2212848"/>
            <a:ext cx="329184" cy="329184"/>
          </a:xfrm>
          <a:prstGeom prst="roundRect">
            <a:avLst>
              <a:gd name="adj" fmla="val 16667"/>
            </a:avLst>
          </a:prstGeom>
          <a:solidFill>
            <a:srgbClr val="FB7185"/>
          </a:solidFill>
          <a:ln w="12700">
            <a:solidFill>
              <a:srgbClr val="FB7185"/>
            </a:solidFill>
            <a:prstDash val="solid"/>
          </a:ln>
        </p:spPr>
      </p:sp>
      <p:sp>
        <p:nvSpPr>
          <p:cNvPr id="24" name="Text 22"/>
          <p:cNvSpPr txBox="1"/>
          <p:nvPr/>
        </p:nvSpPr>
        <p:spPr>
          <a:xfrm>
            <a:off x="502920" y="2212848"/>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1</a:t>
            </a:r>
            <a:endParaRPr lang="en-US" sz="1400" dirty="0"/>
          </a:p>
        </p:txBody>
      </p:sp>
      <p:sp>
        <p:nvSpPr>
          <p:cNvPr id="25" name="Shape 23"/>
          <p:cNvSpPr/>
          <p:nvPr/>
        </p:nvSpPr>
        <p:spPr>
          <a:xfrm>
            <a:off x="886968" y="2212848"/>
            <a:ext cx="329184" cy="329184"/>
          </a:xfrm>
          <a:prstGeom prst="roundRect">
            <a:avLst>
              <a:gd name="adj" fmla="val 16667"/>
            </a:avLst>
          </a:prstGeom>
          <a:solidFill>
            <a:srgbClr val="22324F"/>
          </a:solidFill>
          <a:ln w="12700">
            <a:solidFill>
              <a:srgbClr val="24365A"/>
            </a:solidFill>
            <a:prstDash val="solid"/>
          </a:ln>
        </p:spPr>
      </p:sp>
      <p:sp>
        <p:nvSpPr>
          <p:cNvPr id="26" name="Text 24"/>
          <p:cNvSpPr txBox="1"/>
          <p:nvPr/>
        </p:nvSpPr>
        <p:spPr>
          <a:xfrm>
            <a:off x="868680" y="2212848"/>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3</a:t>
            </a:r>
            <a:endParaRPr lang="en-US" sz="1400" dirty="0"/>
          </a:p>
        </p:txBody>
      </p:sp>
      <p:sp>
        <p:nvSpPr>
          <p:cNvPr id="27" name="Shape 25"/>
          <p:cNvSpPr/>
          <p:nvPr/>
        </p:nvSpPr>
        <p:spPr>
          <a:xfrm>
            <a:off x="1252728" y="2212848"/>
            <a:ext cx="329184" cy="329184"/>
          </a:xfrm>
          <a:prstGeom prst="roundRect">
            <a:avLst>
              <a:gd name="adj" fmla="val 16667"/>
            </a:avLst>
          </a:prstGeom>
          <a:solidFill>
            <a:srgbClr val="FB7185"/>
          </a:solidFill>
          <a:ln w="12700">
            <a:solidFill>
              <a:srgbClr val="FB7185"/>
            </a:solidFill>
            <a:prstDash val="solid"/>
          </a:ln>
        </p:spPr>
      </p:sp>
      <p:sp>
        <p:nvSpPr>
          <p:cNvPr id="28" name="Text 26"/>
          <p:cNvSpPr txBox="1"/>
          <p:nvPr/>
        </p:nvSpPr>
        <p:spPr>
          <a:xfrm>
            <a:off x="1234440" y="2212848"/>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8</a:t>
            </a:r>
            <a:endParaRPr lang="en-US" sz="1400" dirty="0"/>
          </a:p>
        </p:txBody>
      </p:sp>
      <p:sp>
        <p:nvSpPr>
          <p:cNvPr id="29" name="Shape 27"/>
          <p:cNvSpPr/>
          <p:nvPr/>
        </p:nvSpPr>
        <p:spPr>
          <a:xfrm>
            <a:off x="1618488" y="2212848"/>
            <a:ext cx="329184" cy="329184"/>
          </a:xfrm>
          <a:prstGeom prst="roundRect">
            <a:avLst>
              <a:gd name="adj" fmla="val 16667"/>
            </a:avLst>
          </a:prstGeom>
          <a:solidFill>
            <a:srgbClr val="22324F"/>
          </a:solidFill>
          <a:ln w="12700">
            <a:solidFill>
              <a:srgbClr val="24365A"/>
            </a:solidFill>
            <a:prstDash val="solid"/>
          </a:ln>
        </p:spPr>
      </p:sp>
      <p:sp>
        <p:nvSpPr>
          <p:cNvPr id="30" name="Text 28"/>
          <p:cNvSpPr txBox="1"/>
          <p:nvPr/>
        </p:nvSpPr>
        <p:spPr>
          <a:xfrm>
            <a:off x="1600200" y="2212848"/>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7</a:t>
            </a:r>
            <a:endParaRPr lang="en-US" sz="1400" dirty="0"/>
          </a:p>
        </p:txBody>
      </p:sp>
      <p:sp>
        <p:nvSpPr>
          <p:cNvPr id="31" name="Shape 29"/>
          <p:cNvSpPr/>
          <p:nvPr/>
        </p:nvSpPr>
        <p:spPr>
          <a:xfrm>
            <a:off x="1984248" y="2212848"/>
            <a:ext cx="329184" cy="329184"/>
          </a:xfrm>
          <a:prstGeom prst="roundRect">
            <a:avLst>
              <a:gd name="adj" fmla="val 16667"/>
            </a:avLst>
          </a:prstGeom>
          <a:solidFill>
            <a:srgbClr val="22324F"/>
          </a:solidFill>
          <a:ln w="12700">
            <a:solidFill>
              <a:srgbClr val="24365A"/>
            </a:solidFill>
            <a:prstDash val="solid"/>
          </a:ln>
        </p:spPr>
      </p:sp>
      <p:sp>
        <p:nvSpPr>
          <p:cNvPr id="32" name="Text 30"/>
          <p:cNvSpPr txBox="1"/>
          <p:nvPr/>
        </p:nvSpPr>
        <p:spPr>
          <a:xfrm>
            <a:off x="1965960" y="2212848"/>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0</a:t>
            </a:r>
            <a:endParaRPr lang="en-US" sz="1400" dirty="0"/>
          </a:p>
        </p:txBody>
      </p:sp>
      <p:sp>
        <p:nvSpPr>
          <p:cNvPr id="33" name="Shape 31"/>
          <p:cNvSpPr/>
          <p:nvPr/>
        </p:nvSpPr>
        <p:spPr>
          <a:xfrm>
            <a:off x="2350008" y="2212848"/>
            <a:ext cx="329184" cy="329184"/>
          </a:xfrm>
          <a:prstGeom prst="roundRect">
            <a:avLst>
              <a:gd name="adj" fmla="val 16667"/>
            </a:avLst>
          </a:prstGeom>
          <a:solidFill>
            <a:srgbClr val="22324F"/>
          </a:solidFill>
          <a:ln w="12700">
            <a:solidFill>
              <a:srgbClr val="24365A"/>
            </a:solidFill>
            <a:prstDash val="solid"/>
          </a:ln>
        </p:spPr>
      </p:sp>
      <p:sp>
        <p:nvSpPr>
          <p:cNvPr id="34" name="Text 32"/>
          <p:cNvSpPr txBox="1"/>
          <p:nvPr/>
        </p:nvSpPr>
        <p:spPr>
          <a:xfrm>
            <a:off x="2331720" y="2212848"/>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10</a:t>
            </a:r>
            <a:endParaRPr lang="en-US" sz="1400" dirty="0"/>
          </a:p>
        </p:txBody>
      </p:sp>
      <p:sp>
        <p:nvSpPr>
          <p:cNvPr id="35" name="Shape 33"/>
          <p:cNvSpPr/>
          <p:nvPr/>
        </p:nvSpPr>
        <p:spPr>
          <a:xfrm>
            <a:off x="2715768" y="2212848"/>
            <a:ext cx="329184" cy="329184"/>
          </a:xfrm>
          <a:prstGeom prst="roundRect">
            <a:avLst>
              <a:gd name="adj" fmla="val 16667"/>
            </a:avLst>
          </a:prstGeom>
          <a:solidFill>
            <a:srgbClr val="FBBF24"/>
          </a:solidFill>
          <a:ln w="12700">
            <a:solidFill>
              <a:srgbClr val="FBBF24"/>
            </a:solidFill>
            <a:prstDash val="solid"/>
          </a:ln>
        </p:spPr>
      </p:sp>
      <p:sp>
        <p:nvSpPr>
          <p:cNvPr id="36" name="Text 34"/>
          <p:cNvSpPr txBox="1"/>
          <p:nvPr/>
        </p:nvSpPr>
        <p:spPr>
          <a:xfrm>
            <a:off x="2697480" y="2212848"/>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37" name="Shape 35"/>
          <p:cNvSpPr/>
          <p:nvPr/>
        </p:nvSpPr>
        <p:spPr>
          <a:xfrm>
            <a:off x="365760" y="2688336"/>
            <a:ext cx="4754880" cy="676656"/>
          </a:xfrm>
          <a:prstGeom prst="roundRect">
            <a:avLst>
              <a:gd name="adj" fmla="val 13514"/>
            </a:avLst>
          </a:prstGeom>
          <a:solidFill>
            <a:srgbClr val="15233B"/>
          </a:solidFill>
          <a:ln w="12700">
            <a:solidFill>
              <a:srgbClr val="24365A"/>
            </a:solidFill>
            <a:prstDash val="solid"/>
          </a:ln>
        </p:spPr>
      </p:sp>
      <p:sp>
        <p:nvSpPr>
          <p:cNvPr id="38" name="Text 36"/>
          <p:cNvSpPr txBox="1"/>
          <p:nvPr/>
        </p:nvSpPr>
        <p:spPr>
          <a:xfrm>
            <a:off x="502920" y="2734056"/>
            <a:ext cx="4480560" cy="182880"/>
          </a:xfrm>
          <a:prstGeom prst="rect">
            <a:avLst/>
          </a:prstGeom>
          <a:noFill/>
          <a:ln/>
        </p:spPr>
        <p:txBody>
          <a:bodyPr wrap="square" lIns="0" tIns="0" rIns="0" bIns="0" rtlCol="0" anchor="t"/>
          <a:lstStyle/>
          <a:p>
            <a:pPr indent="0" marL="0">
              <a:buNone/>
            </a:pPr>
            <a:r>
              <a:rPr lang="en-US" sz="1100" b="1" dirty="0">
                <a:solidFill>
                  <a:srgbClr val="94A3B8"/>
                </a:solidFill>
                <a:latin typeface="Calibri" pitchFamily="34" charset="0"/>
                <a:ea typeface="Calibri" pitchFamily="34" charset="-122"/>
                <a:cs typeface="Calibri" pitchFamily="34" charset="-120"/>
              </a:rPr>
              <a:t>j=4: 0 &lt;= 2, i=1, swap A[1] and A[4]</a:t>
            </a:r>
            <a:endParaRPr lang="en-US" sz="1100" dirty="0"/>
          </a:p>
        </p:txBody>
      </p:sp>
      <p:sp>
        <p:nvSpPr>
          <p:cNvPr id="39" name="Shape 37"/>
          <p:cNvSpPr/>
          <p:nvPr/>
        </p:nvSpPr>
        <p:spPr>
          <a:xfrm>
            <a:off x="521208" y="2962656"/>
            <a:ext cx="329184" cy="329184"/>
          </a:xfrm>
          <a:prstGeom prst="roundRect">
            <a:avLst>
              <a:gd name="adj" fmla="val 16667"/>
            </a:avLst>
          </a:prstGeom>
          <a:solidFill>
            <a:srgbClr val="22324F"/>
          </a:solidFill>
          <a:ln w="12700">
            <a:solidFill>
              <a:srgbClr val="24365A"/>
            </a:solidFill>
            <a:prstDash val="solid"/>
          </a:ln>
        </p:spPr>
      </p:sp>
      <p:sp>
        <p:nvSpPr>
          <p:cNvPr id="40" name="Text 38"/>
          <p:cNvSpPr txBox="1"/>
          <p:nvPr/>
        </p:nvSpPr>
        <p:spPr>
          <a:xfrm>
            <a:off x="502920" y="2962656"/>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a:t>
            </a:r>
            <a:endParaRPr lang="en-US" sz="1400" dirty="0"/>
          </a:p>
        </p:txBody>
      </p:sp>
      <p:sp>
        <p:nvSpPr>
          <p:cNvPr id="41" name="Shape 39"/>
          <p:cNvSpPr/>
          <p:nvPr/>
        </p:nvSpPr>
        <p:spPr>
          <a:xfrm>
            <a:off x="886968" y="2962656"/>
            <a:ext cx="329184" cy="329184"/>
          </a:xfrm>
          <a:prstGeom prst="roundRect">
            <a:avLst>
              <a:gd name="adj" fmla="val 16667"/>
            </a:avLst>
          </a:prstGeom>
          <a:solidFill>
            <a:srgbClr val="FB7185"/>
          </a:solidFill>
          <a:ln w="12700">
            <a:solidFill>
              <a:srgbClr val="FB7185"/>
            </a:solidFill>
            <a:prstDash val="solid"/>
          </a:ln>
        </p:spPr>
      </p:sp>
      <p:sp>
        <p:nvSpPr>
          <p:cNvPr id="42" name="Text 40"/>
          <p:cNvSpPr txBox="1"/>
          <p:nvPr/>
        </p:nvSpPr>
        <p:spPr>
          <a:xfrm>
            <a:off x="868680" y="2962656"/>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0</a:t>
            </a:r>
            <a:endParaRPr lang="en-US" sz="1400" dirty="0"/>
          </a:p>
        </p:txBody>
      </p:sp>
      <p:sp>
        <p:nvSpPr>
          <p:cNvPr id="43" name="Shape 41"/>
          <p:cNvSpPr/>
          <p:nvPr/>
        </p:nvSpPr>
        <p:spPr>
          <a:xfrm>
            <a:off x="1252728" y="2962656"/>
            <a:ext cx="329184" cy="329184"/>
          </a:xfrm>
          <a:prstGeom prst="roundRect">
            <a:avLst>
              <a:gd name="adj" fmla="val 16667"/>
            </a:avLst>
          </a:prstGeom>
          <a:solidFill>
            <a:srgbClr val="22324F"/>
          </a:solidFill>
          <a:ln w="12700">
            <a:solidFill>
              <a:srgbClr val="24365A"/>
            </a:solidFill>
            <a:prstDash val="solid"/>
          </a:ln>
        </p:spPr>
      </p:sp>
      <p:sp>
        <p:nvSpPr>
          <p:cNvPr id="44" name="Text 42"/>
          <p:cNvSpPr txBox="1"/>
          <p:nvPr/>
        </p:nvSpPr>
        <p:spPr>
          <a:xfrm>
            <a:off x="1234440" y="2962656"/>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8</a:t>
            </a:r>
            <a:endParaRPr lang="en-US" sz="1400" dirty="0"/>
          </a:p>
        </p:txBody>
      </p:sp>
      <p:sp>
        <p:nvSpPr>
          <p:cNvPr id="45" name="Shape 43"/>
          <p:cNvSpPr/>
          <p:nvPr/>
        </p:nvSpPr>
        <p:spPr>
          <a:xfrm>
            <a:off x="1618488" y="2962656"/>
            <a:ext cx="329184" cy="329184"/>
          </a:xfrm>
          <a:prstGeom prst="roundRect">
            <a:avLst>
              <a:gd name="adj" fmla="val 16667"/>
            </a:avLst>
          </a:prstGeom>
          <a:solidFill>
            <a:srgbClr val="22324F"/>
          </a:solidFill>
          <a:ln w="12700">
            <a:solidFill>
              <a:srgbClr val="24365A"/>
            </a:solidFill>
            <a:prstDash val="solid"/>
          </a:ln>
        </p:spPr>
      </p:sp>
      <p:sp>
        <p:nvSpPr>
          <p:cNvPr id="46" name="Text 44"/>
          <p:cNvSpPr txBox="1"/>
          <p:nvPr/>
        </p:nvSpPr>
        <p:spPr>
          <a:xfrm>
            <a:off x="1600200" y="2962656"/>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7</a:t>
            </a:r>
            <a:endParaRPr lang="en-US" sz="1400" dirty="0"/>
          </a:p>
        </p:txBody>
      </p:sp>
      <p:sp>
        <p:nvSpPr>
          <p:cNvPr id="47" name="Shape 45"/>
          <p:cNvSpPr/>
          <p:nvPr/>
        </p:nvSpPr>
        <p:spPr>
          <a:xfrm>
            <a:off x="1984248" y="2962656"/>
            <a:ext cx="329184" cy="329184"/>
          </a:xfrm>
          <a:prstGeom prst="roundRect">
            <a:avLst>
              <a:gd name="adj" fmla="val 16667"/>
            </a:avLst>
          </a:prstGeom>
          <a:solidFill>
            <a:srgbClr val="FB7185"/>
          </a:solidFill>
          <a:ln w="12700">
            <a:solidFill>
              <a:srgbClr val="FB7185"/>
            </a:solidFill>
            <a:prstDash val="solid"/>
          </a:ln>
        </p:spPr>
      </p:sp>
      <p:sp>
        <p:nvSpPr>
          <p:cNvPr id="48" name="Text 46"/>
          <p:cNvSpPr txBox="1"/>
          <p:nvPr/>
        </p:nvSpPr>
        <p:spPr>
          <a:xfrm>
            <a:off x="1965960" y="2962656"/>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3</a:t>
            </a:r>
            <a:endParaRPr lang="en-US" sz="1400" dirty="0"/>
          </a:p>
        </p:txBody>
      </p:sp>
      <p:sp>
        <p:nvSpPr>
          <p:cNvPr id="49" name="Shape 47"/>
          <p:cNvSpPr/>
          <p:nvPr/>
        </p:nvSpPr>
        <p:spPr>
          <a:xfrm>
            <a:off x="2350008" y="2962656"/>
            <a:ext cx="329184" cy="329184"/>
          </a:xfrm>
          <a:prstGeom prst="roundRect">
            <a:avLst>
              <a:gd name="adj" fmla="val 16667"/>
            </a:avLst>
          </a:prstGeom>
          <a:solidFill>
            <a:srgbClr val="22324F"/>
          </a:solidFill>
          <a:ln w="12700">
            <a:solidFill>
              <a:srgbClr val="24365A"/>
            </a:solidFill>
            <a:prstDash val="solid"/>
          </a:ln>
        </p:spPr>
      </p:sp>
      <p:sp>
        <p:nvSpPr>
          <p:cNvPr id="50" name="Text 48"/>
          <p:cNvSpPr txBox="1"/>
          <p:nvPr/>
        </p:nvSpPr>
        <p:spPr>
          <a:xfrm>
            <a:off x="2331720" y="2962656"/>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10</a:t>
            </a:r>
            <a:endParaRPr lang="en-US" sz="1400" dirty="0"/>
          </a:p>
        </p:txBody>
      </p:sp>
      <p:sp>
        <p:nvSpPr>
          <p:cNvPr id="51" name="Shape 49"/>
          <p:cNvSpPr/>
          <p:nvPr/>
        </p:nvSpPr>
        <p:spPr>
          <a:xfrm>
            <a:off x="2715768" y="2962656"/>
            <a:ext cx="329184" cy="329184"/>
          </a:xfrm>
          <a:prstGeom prst="roundRect">
            <a:avLst>
              <a:gd name="adj" fmla="val 16667"/>
            </a:avLst>
          </a:prstGeom>
          <a:solidFill>
            <a:srgbClr val="FBBF24"/>
          </a:solidFill>
          <a:ln w="12700">
            <a:solidFill>
              <a:srgbClr val="FBBF24"/>
            </a:solidFill>
            <a:prstDash val="solid"/>
          </a:ln>
        </p:spPr>
      </p:sp>
      <p:sp>
        <p:nvSpPr>
          <p:cNvPr id="52" name="Text 50"/>
          <p:cNvSpPr txBox="1"/>
          <p:nvPr/>
        </p:nvSpPr>
        <p:spPr>
          <a:xfrm>
            <a:off x="2697480" y="2962656"/>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53" name="Shape 51"/>
          <p:cNvSpPr/>
          <p:nvPr/>
        </p:nvSpPr>
        <p:spPr>
          <a:xfrm>
            <a:off x="365760" y="3438144"/>
            <a:ext cx="4754880" cy="676656"/>
          </a:xfrm>
          <a:prstGeom prst="roundRect">
            <a:avLst>
              <a:gd name="adj" fmla="val 13514"/>
            </a:avLst>
          </a:prstGeom>
          <a:solidFill>
            <a:srgbClr val="15233B"/>
          </a:solidFill>
          <a:ln w="12700">
            <a:solidFill>
              <a:srgbClr val="24365A"/>
            </a:solidFill>
            <a:prstDash val="solid"/>
          </a:ln>
        </p:spPr>
      </p:sp>
      <p:sp>
        <p:nvSpPr>
          <p:cNvPr id="54" name="Text 52"/>
          <p:cNvSpPr txBox="1"/>
          <p:nvPr/>
        </p:nvSpPr>
        <p:spPr>
          <a:xfrm>
            <a:off x="502920" y="3483864"/>
            <a:ext cx="4480560" cy="182880"/>
          </a:xfrm>
          <a:prstGeom prst="rect">
            <a:avLst/>
          </a:prstGeom>
          <a:noFill/>
          <a:ln/>
        </p:spPr>
        <p:txBody>
          <a:bodyPr wrap="square" lIns="0" tIns="0" rIns="0" bIns="0" rtlCol="0" anchor="t"/>
          <a:lstStyle/>
          <a:p>
            <a:pPr indent="0" marL="0">
              <a:buNone/>
            </a:pPr>
            <a:r>
              <a:rPr lang="en-US" sz="1100" b="1" dirty="0">
                <a:solidFill>
                  <a:srgbClr val="94A3B8"/>
                </a:solidFill>
                <a:latin typeface="Calibri" pitchFamily="34" charset="0"/>
                <a:ea typeface="Calibri" pitchFamily="34" charset="-122"/>
                <a:cs typeface="Calibri" pitchFamily="34" charset="-120"/>
              </a:rPr>
              <a:t>END: swap pivot with A[i+1] = A[2]</a:t>
            </a:r>
            <a:endParaRPr lang="en-US" sz="1100" dirty="0"/>
          </a:p>
        </p:txBody>
      </p:sp>
      <p:sp>
        <p:nvSpPr>
          <p:cNvPr id="55" name="Shape 53"/>
          <p:cNvSpPr/>
          <p:nvPr/>
        </p:nvSpPr>
        <p:spPr>
          <a:xfrm>
            <a:off x="521208" y="3712464"/>
            <a:ext cx="329184" cy="329184"/>
          </a:xfrm>
          <a:prstGeom prst="roundRect">
            <a:avLst>
              <a:gd name="adj" fmla="val 16667"/>
            </a:avLst>
          </a:prstGeom>
          <a:solidFill>
            <a:srgbClr val="22324F"/>
          </a:solidFill>
          <a:ln w="12700">
            <a:solidFill>
              <a:srgbClr val="24365A"/>
            </a:solidFill>
            <a:prstDash val="solid"/>
          </a:ln>
        </p:spPr>
      </p:sp>
      <p:sp>
        <p:nvSpPr>
          <p:cNvPr id="56" name="Text 54"/>
          <p:cNvSpPr txBox="1"/>
          <p:nvPr/>
        </p:nvSpPr>
        <p:spPr>
          <a:xfrm>
            <a:off x="502920" y="3712464"/>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a:t>
            </a:r>
            <a:endParaRPr lang="en-US" sz="1400" dirty="0"/>
          </a:p>
        </p:txBody>
      </p:sp>
      <p:sp>
        <p:nvSpPr>
          <p:cNvPr id="57" name="Shape 55"/>
          <p:cNvSpPr/>
          <p:nvPr/>
        </p:nvSpPr>
        <p:spPr>
          <a:xfrm>
            <a:off x="886968" y="3712464"/>
            <a:ext cx="329184" cy="329184"/>
          </a:xfrm>
          <a:prstGeom prst="roundRect">
            <a:avLst>
              <a:gd name="adj" fmla="val 16667"/>
            </a:avLst>
          </a:prstGeom>
          <a:solidFill>
            <a:srgbClr val="22324F"/>
          </a:solidFill>
          <a:ln w="12700">
            <a:solidFill>
              <a:srgbClr val="24365A"/>
            </a:solidFill>
            <a:prstDash val="solid"/>
          </a:ln>
        </p:spPr>
      </p:sp>
      <p:sp>
        <p:nvSpPr>
          <p:cNvPr id="58" name="Text 56"/>
          <p:cNvSpPr txBox="1"/>
          <p:nvPr/>
        </p:nvSpPr>
        <p:spPr>
          <a:xfrm>
            <a:off x="868680" y="3712464"/>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0</a:t>
            </a:r>
            <a:endParaRPr lang="en-US" sz="1400" dirty="0"/>
          </a:p>
        </p:txBody>
      </p:sp>
      <p:sp>
        <p:nvSpPr>
          <p:cNvPr id="59" name="Shape 57"/>
          <p:cNvSpPr/>
          <p:nvPr/>
        </p:nvSpPr>
        <p:spPr>
          <a:xfrm>
            <a:off x="1252728" y="3712464"/>
            <a:ext cx="329184" cy="329184"/>
          </a:xfrm>
          <a:prstGeom prst="roundRect">
            <a:avLst>
              <a:gd name="adj" fmla="val 16667"/>
            </a:avLst>
          </a:prstGeom>
          <a:solidFill>
            <a:srgbClr val="4ADE80"/>
          </a:solidFill>
          <a:ln w="12700">
            <a:solidFill>
              <a:srgbClr val="4ADE80"/>
            </a:solidFill>
            <a:prstDash val="solid"/>
          </a:ln>
        </p:spPr>
      </p:sp>
      <p:sp>
        <p:nvSpPr>
          <p:cNvPr id="60" name="Text 58"/>
          <p:cNvSpPr txBox="1"/>
          <p:nvPr/>
        </p:nvSpPr>
        <p:spPr>
          <a:xfrm>
            <a:off x="1234440" y="3712464"/>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61" name="Shape 59"/>
          <p:cNvSpPr/>
          <p:nvPr/>
        </p:nvSpPr>
        <p:spPr>
          <a:xfrm>
            <a:off x="1618488" y="3712464"/>
            <a:ext cx="329184" cy="329184"/>
          </a:xfrm>
          <a:prstGeom prst="roundRect">
            <a:avLst>
              <a:gd name="adj" fmla="val 16667"/>
            </a:avLst>
          </a:prstGeom>
          <a:solidFill>
            <a:srgbClr val="22324F"/>
          </a:solidFill>
          <a:ln w="12700">
            <a:solidFill>
              <a:srgbClr val="24365A"/>
            </a:solidFill>
            <a:prstDash val="solid"/>
          </a:ln>
        </p:spPr>
      </p:sp>
      <p:sp>
        <p:nvSpPr>
          <p:cNvPr id="62" name="Text 60"/>
          <p:cNvSpPr txBox="1"/>
          <p:nvPr/>
        </p:nvSpPr>
        <p:spPr>
          <a:xfrm>
            <a:off x="1600200" y="3712464"/>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7</a:t>
            </a:r>
            <a:endParaRPr lang="en-US" sz="1400" dirty="0"/>
          </a:p>
        </p:txBody>
      </p:sp>
      <p:sp>
        <p:nvSpPr>
          <p:cNvPr id="63" name="Shape 61"/>
          <p:cNvSpPr/>
          <p:nvPr/>
        </p:nvSpPr>
        <p:spPr>
          <a:xfrm>
            <a:off x="1984248" y="3712464"/>
            <a:ext cx="329184" cy="329184"/>
          </a:xfrm>
          <a:prstGeom prst="roundRect">
            <a:avLst>
              <a:gd name="adj" fmla="val 16667"/>
            </a:avLst>
          </a:prstGeom>
          <a:solidFill>
            <a:srgbClr val="22324F"/>
          </a:solidFill>
          <a:ln w="12700">
            <a:solidFill>
              <a:srgbClr val="24365A"/>
            </a:solidFill>
            <a:prstDash val="solid"/>
          </a:ln>
        </p:spPr>
      </p:sp>
      <p:sp>
        <p:nvSpPr>
          <p:cNvPr id="64" name="Text 62"/>
          <p:cNvSpPr txBox="1"/>
          <p:nvPr/>
        </p:nvSpPr>
        <p:spPr>
          <a:xfrm>
            <a:off x="1965960" y="3712464"/>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3</a:t>
            </a:r>
            <a:endParaRPr lang="en-US" sz="1400" dirty="0"/>
          </a:p>
        </p:txBody>
      </p:sp>
      <p:sp>
        <p:nvSpPr>
          <p:cNvPr id="65" name="Shape 63"/>
          <p:cNvSpPr/>
          <p:nvPr/>
        </p:nvSpPr>
        <p:spPr>
          <a:xfrm>
            <a:off x="2350008" y="3712464"/>
            <a:ext cx="329184" cy="329184"/>
          </a:xfrm>
          <a:prstGeom prst="roundRect">
            <a:avLst>
              <a:gd name="adj" fmla="val 16667"/>
            </a:avLst>
          </a:prstGeom>
          <a:solidFill>
            <a:srgbClr val="22324F"/>
          </a:solidFill>
          <a:ln w="12700">
            <a:solidFill>
              <a:srgbClr val="24365A"/>
            </a:solidFill>
            <a:prstDash val="solid"/>
          </a:ln>
        </p:spPr>
      </p:sp>
      <p:sp>
        <p:nvSpPr>
          <p:cNvPr id="66" name="Text 64"/>
          <p:cNvSpPr txBox="1"/>
          <p:nvPr/>
        </p:nvSpPr>
        <p:spPr>
          <a:xfrm>
            <a:off x="2331720" y="3712464"/>
            <a:ext cx="365760" cy="329184"/>
          </a:xfrm>
          <a:prstGeom prst="rect">
            <a:avLst/>
          </a:prstGeom>
          <a:noFill/>
          <a:ln/>
        </p:spPr>
        <p:txBody>
          <a:bodyPr wrap="square" lIns="0" tIns="0" rIns="0" bIns="0" rtlCol="0" anchor="ctr"/>
          <a:lstStyle/>
          <a:p>
            <a:pPr algn="ctr" indent="0" marL="0">
              <a:buNone/>
            </a:pPr>
            <a:r>
              <a:rPr lang="en-US" sz="1400" b="1" dirty="0">
                <a:solidFill>
                  <a:srgbClr val="F1F5F9"/>
                </a:solidFill>
                <a:latin typeface="Calibri" pitchFamily="34" charset="0"/>
                <a:ea typeface="Calibri" pitchFamily="34" charset="-122"/>
                <a:cs typeface="Calibri" pitchFamily="34" charset="-120"/>
              </a:rPr>
              <a:t>10</a:t>
            </a:r>
            <a:endParaRPr lang="en-US" sz="1400" dirty="0"/>
          </a:p>
        </p:txBody>
      </p:sp>
      <p:sp>
        <p:nvSpPr>
          <p:cNvPr id="67" name="Shape 65"/>
          <p:cNvSpPr/>
          <p:nvPr/>
        </p:nvSpPr>
        <p:spPr>
          <a:xfrm>
            <a:off x="2715768" y="3712464"/>
            <a:ext cx="329184" cy="329184"/>
          </a:xfrm>
          <a:prstGeom prst="roundRect">
            <a:avLst>
              <a:gd name="adj" fmla="val 16667"/>
            </a:avLst>
          </a:prstGeom>
          <a:solidFill>
            <a:srgbClr val="FB7185"/>
          </a:solidFill>
          <a:ln w="12700">
            <a:solidFill>
              <a:srgbClr val="FB7185"/>
            </a:solidFill>
            <a:prstDash val="solid"/>
          </a:ln>
        </p:spPr>
      </p:sp>
      <p:sp>
        <p:nvSpPr>
          <p:cNvPr id="68" name="Text 66"/>
          <p:cNvSpPr txBox="1"/>
          <p:nvPr/>
        </p:nvSpPr>
        <p:spPr>
          <a:xfrm>
            <a:off x="2697480" y="3712464"/>
            <a:ext cx="365760" cy="329184"/>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8</a:t>
            </a:r>
            <a:endParaRPr lang="en-US" sz="1400" dirty="0"/>
          </a:p>
        </p:txBody>
      </p:sp>
      <p:sp>
        <p:nvSpPr>
          <p:cNvPr id="69" name="Shape 67"/>
          <p:cNvSpPr/>
          <p:nvPr/>
        </p:nvSpPr>
        <p:spPr>
          <a:xfrm>
            <a:off x="5303520" y="1188720"/>
            <a:ext cx="3474720" cy="2944368"/>
          </a:xfrm>
          <a:prstGeom prst="roundRect">
            <a:avLst>
              <a:gd name="adj" fmla="val 3106"/>
            </a:avLst>
          </a:prstGeom>
          <a:solidFill>
            <a:srgbClr val="15233B"/>
          </a:solidFill>
          <a:ln w="12700">
            <a:solidFill>
              <a:srgbClr val="24365A"/>
            </a:solidFill>
            <a:prstDash val="solid"/>
          </a:ln>
        </p:spPr>
      </p:sp>
      <p:sp>
        <p:nvSpPr>
          <p:cNvPr id="70" name="Text 68"/>
          <p:cNvSpPr txBox="1"/>
          <p:nvPr/>
        </p:nvSpPr>
        <p:spPr>
          <a:xfrm>
            <a:off x="5486400" y="1280160"/>
            <a:ext cx="2743200" cy="182880"/>
          </a:xfrm>
          <a:prstGeom prst="rect">
            <a:avLst/>
          </a:prstGeom>
          <a:noFill/>
          <a:ln/>
        </p:spPr>
        <p:txBody>
          <a:bodyPr wrap="square" lIns="0" tIns="0" rIns="0" bIns="0" rtlCol="0" anchor="t"/>
          <a:lstStyle/>
          <a:p>
            <a:pPr indent="0" marL="0">
              <a:buNone/>
            </a:pPr>
            <a:r>
              <a:rPr lang="en-US" sz="1100" b="1" spc="200" kern="0" dirty="0">
                <a:solidFill>
                  <a:srgbClr val="2DD4BF"/>
                </a:solidFill>
                <a:latin typeface="Calibri" pitchFamily="34" charset="0"/>
                <a:ea typeface="Calibri" pitchFamily="34" charset="-122"/>
                <a:cs typeface="Calibri" pitchFamily="34" charset="-120"/>
              </a:rPr>
              <a:t>RECURSIVE CALLS</a:t>
            </a:r>
            <a:endParaRPr lang="en-US" sz="1100" dirty="0"/>
          </a:p>
        </p:txBody>
      </p:sp>
      <p:sp>
        <p:nvSpPr>
          <p:cNvPr id="71" name="Shape 69"/>
          <p:cNvSpPr/>
          <p:nvPr/>
        </p:nvSpPr>
        <p:spPr>
          <a:xfrm>
            <a:off x="5504688" y="1600200"/>
            <a:ext cx="274320" cy="310896"/>
          </a:xfrm>
          <a:prstGeom prst="roundRect">
            <a:avLst>
              <a:gd name="adj" fmla="val 20000"/>
            </a:avLst>
          </a:prstGeom>
          <a:solidFill>
            <a:srgbClr val="22324F"/>
          </a:solidFill>
          <a:ln w="12700">
            <a:solidFill>
              <a:srgbClr val="24365A"/>
            </a:solidFill>
            <a:prstDash val="solid"/>
          </a:ln>
        </p:spPr>
      </p:sp>
      <p:sp>
        <p:nvSpPr>
          <p:cNvPr id="72" name="Text 70"/>
          <p:cNvSpPr txBox="1"/>
          <p:nvPr/>
        </p:nvSpPr>
        <p:spPr>
          <a:xfrm>
            <a:off x="5486400" y="1600200"/>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a:t>
            </a:r>
            <a:endParaRPr lang="en-US" sz="1600" dirty="0"/>
          </a:p>
        </p:txBody>
      </p:sp>
      <p:sp>
        <p:nvSpPr>
          <p:cNvPr id="73" name="Shape 71"/>
          <p:cNvSpPr/>
          <p:nvPr/>
        </p:nvSpPr>
        <p:spPr>
          <a:xfrm>
            <a:off x="5815584" y="1600200"/>
            <a:ext cx="274320" cy="310896"/>
          </a:xfrm>
          <a:prstGeom prst="roundRect">
            <a:avLst>
              <a:gd name="adj" fmla="val 20000"/>
            </a:avLst>
          </a:prstGeom>
          <a:solidFill>
            <a:srgbClr val="22324F"/>
          </a:solidFill>
          <a:ln w="12700">
            <a:solidFill>
              <a:srgbClr val="24365A"/>
            </a:solidFill>
            <a:prstDash val="solid"/>
          </a:ln>
        </p:spPr>
      </p:sp>
      <p:sp>
        <p:nvSpPr>
          <p:cNvPr id="74" name="Text 72"/>
          <p:cNvSpPr txBox="1"/>
          <p:nvPr/>
        </p:nvSpPr>
        <p:spPr>
          <a:xfrm>
            <a:off x="5797296" y="1600200"/>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0</a:t>
            </a:r>
            <a:endParaRPr lang="en-US" sz="1600" dirty="0"/>
          </a:p>
        </p:txBody>
      </p:sp>
      <p:sp>
        <p:nvSpPr>
          <p:cNvPr id="75" name="Text 73"/>
          <p:cNvSpPr txBox="1"/>
          <p:nvPr/>
        </p:nvSpPr>
        <p:spPr>
          <a:xfrm>
            <a:off x="6181344" y="1600200"/>
            <a:ext cx="274320" cy="31089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a:t>
            </a:r>
            <a:endParaRPr lang="en-US" sz="1600" dirty="0"/>
          </a:p>
        </p:txBody>
      </p:sp>
      <p:sp>
        <p:nvSpPr>
          <p:cNvPr id="76" name="Shape 74"/>
          <p:cNvSpPr/>
          <p:nvPr/>
        </p:nvSpPr>
        <p:spPr>
          <a:xfrm>
            <a:off x="6537960" y="1600200"/>
            <a:ext cx="274320" cy="310896"/>
          </a:xfrm>
          <a:prstGeom prst="roundRect">
            <a:avLst>
              <a:gd name="adj" fmla="val 20000"/>
            </a:avLst>
          </a:prstGeom>
          <a:solidFill>
            <a:srgbClr val="2DD4BF"/>
          </a:solidFill>
          <a:ln w="12700">
            <a:solidFill>
              <a:srgbClr val="2DD4BF"/>
            </a:solidFill>
            <a:prstDash val="solid"/>
          </a:ln>
        </p:spPr>
      </p:sp>
      <p:sp>
        <p:nvSpPr>
          <p:cNvPr id="77" name="Text 75"/>
          <p:cNvSpPr txBox="1"/>
          <p:nvPr/>
        </p:nvSpPr>
        <p:spPr>
          <a:xfrm>
            <a:off x="6519672" y="1600200"/>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0</a:t>
            </a:r>
            <a:endParaRPr lang="en-US" sz="1600" dirty="0"/>
          </a:p>
        </p:txBody>
      </p:sp>
      <p:sp>
        <p:nvSpPr>
          <p:cNvPr id="78" name="Shape 76"/>
          <p:cNvSpPr/>
          <p:nvPr/>
        </p:nvSpPr>
        <p:spPr>
          <a:xfrm>
            <a:off x="6848856" y="1600200"/>
            <a:ext cx="274320" cy="310896"/>
          </a:xfrm>
          <a:prstGeom prst="roundRect">
            <a:avLst>
              <a:gd name="adj" fmla="val 20000"/>
            </a:avLst>
          </a:prstGeom>
          <a:solidFill>
            <a:srgbClr val="2DD4BF"/>
          </a:solidFill>
          <a:ln w="12700">
            <a:solidFill>
              <a:srgbClr val="2DD4BF"/>
            </a:solidFill>
            <a:prstDash val="solid"/>
          </a:ln>
        </p:spPr>
      </p:sp>
      <p:sp>
        <p:nvSpPr>
          <p:cNvPr id="79" name="Text 77"/>
          <p:cNvSpPr txBox="1"/>
          <p:nvPr/>
        </p:nvSpPr>
        <p:spPr>
          <a:xfrm>
            <a:off x="6830568" y="1600200"/>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80" name="Text 78"/>
          <p:cNvSpPr txBox="1"/>
          <p:nvPr/>
        </p:nvSpPr>
        <p:spPr>
          <a:xfrm>
            <a:off x="5486400" y="1947672"/>
            <a:ext cx="2743200" cy="1828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pivot 0</a:t>
            </a:r>
            <a:endParaRPr lang="en-US" sz="1100" dirty="0"/>
          </a:p>
        </p:txBody>
      </p:sp>
      <p:sp>
        <p:nvSpPr>
          <p:cNvPr id="81" name="Shape 79"/>
          <p:cNvSpPr/>
          <p:nvPr/>
        </p:nvSpPr>
        <p:spPr>
          <a:xfrm>
            <a:off x="5504688" y="2313432"/>
            <a:ext cx="274320" cy="310896"/>
          </a:xfrm>
          <a:prstGeom prst="roundRect">
            <a:avLst>
              <a:gd name="adj" fmla="val 20000"/>
            </a:avLst>
          </a:prstGeom>
          <a:solidFill>
            <a:srgbClr val="22324F"/>
          </a:solidFill>
          <a:ln w="12700">
            <a:solidFill>
              <a:srgbClr val="24365A"/>
            </a:solidFill>
            <a:prstDash val="solid"/>
          </a:ln>
        </p:spPr>
      </p:sp>
      <p:sp>
        <p:nvSpPr>
          <p:cNvPr id="82" name="Text 80"/>
          <p:cNvSpPr txBox="1"/>
          <p:nvPr/>
        </p:nvSpPr>
        <p:spPr>
          <a:xfrm>
            <a:off x="5486400" y="2313432"/>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7</a:t>
            </a:r>
            <a:endParaRPr lang="en-US" sz="1600" dirty="0"/>
          </a:p>
        </p:txBody>
      </p:sp>
      <p:sp>
        <p:nvSpPr>
          <p:cNvPr id="83" name="Shape 81"/>
          <p:cNvSpPr/>
          <p:nvPr/>
        </p:nvSpPr>
        <p:spPr>
          <a:xfrm>
            <a:off x="5815584" y="2313432"/>
            <a:ext cx="274320" cy="310896"/>
          </a:xfrm>
          <a:prstGeom prst="roundRect">
            <a:avLst>
              <a:gd name="adj" fmla="val 20000"/>
            </a:avLst>
          </a:prstGeom>
          <a:solidFill>
            <a:srgbClr val="22324F"/>
          </a:solidFill>
          <a:ln w="12700">
            <a:solidFill>
              <a:srgbClr val="24365A"/>
            </a:solidFill>
            <a:prstDash val="solid"/>
          </a:ln>
        </p:spPr>
      </p:sp>
      <p:sp>
        <p:nvSpPr>
          <p:cNvPr id="84" name="Text 82"/>
          <p:cNvSpPr txBox="1"/>
          <p:nvPr/>
        </p:nvSpPr>
        <p:spPr>
          <a:xfrm>
            <a:off x="5797296" y="2313432"/>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3</a:t>
            </a:r>
            <a:endParaRPr lang="en-US" sz="1600" dirty="0"/>
          </a:p>
        </p:txBody>
      </p:sp>
      <p:sp>
        <p:nvSpPr>
          <p:cNvPr id="85" name="Shape 83"/>
          <p:cNvSpPr/>
          <p:nvPr/>
        </p:nvSpPr>
        <p:spPr>
          <a:xfrm>
            <a:off x="6126480" y="2313432"/>
            <a:ext cx="274320" cy="310896"/>
          </a:xfrm>
          <a:prstGeom prst="roundRect">
            <a:avLst>
              <a:gd name="adj" fmla="val 20000"/>
            </a:avLst>
          </a:prstGeom>
          <a:solidFill>
            <a:srgbClr val="22324F"/>
          </a:solidFill>
          <a:ln w="12700">
            <a:solidFill>
              <a:srgbClr val="24365A"/>
            </a:solidFill>
            <a:prstDash val="solid"/>
          </a:ln>
        </p:spPr>
      </p:sp>
      <p:sp>
        <p:nvSpPr>
          <p:cNvPr id="86" name="Text 84"/>
          <p:cNvSpPr txBox="1"/>
          <p:nvPr/>
        </p:nvSpPr>
        <p:spPr>
          <a:xfrm>
            <a:off x="6108192" y="2313432"/>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10</a:t>
            </a:r>
            <a:endParaRPr lang="en-US" sz="1600" dirty="0"/>
          </a:p>
        </p:txBody>
      </p:sp>
      <p:sp>
        <p:nvSpPr>
          <p:cNvPr id="87" name="Shape 85"/>
          <p:cNvSpPr/>
          <p:nvPr/>
        </p:nvSpPr>
        <p:spPr>
          <a:xfrm>
            <a:off x="6437376" y="2313432"/>
            <a:ext cx="274320" cy="310896"/>
          </a:xfrm>
          <a:prstGeom prst="roundRect">
            <a:avLst>
              <a:gd name="adj" fmla="val 20000"/>
            </a:avLst>
          </a:prstGeom>
          <a:solidFill>
            <a:srgbClr val="22324F"/>
          </a:solidFill>
          <a:ln w="12700">
            <a:solidFill>
              <a:srgbClr val="24365A"/>
            </a:solidFill>
            <a:prstDash val="solid"/>
          </a:ln>
        </p:spPr>
      </p:sp>
      <p:sp>
        <p:nvSpPr>
          <p:cNvPr id="88" name="Text 86"/>
          <p:cNvSpPr txBox="1"/>
          <p:nvPr/>
        </p:nvSpPr>
        <p:spPr>
          <a:xfrm>
            <a:off x="6419088" y="2313432"/>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8</a:t>
            </a:r>
            <a:endParaRPr lang="en-US" sz="1600" dirty="0"/>
          </a:p>
        </p:txBody>
      </p:sp>
      <p:sp>
        <p:nvSpPr>
          <p:cNvPr id="89" name="Text 87"/>
          <p:cNvSpPr txBox="1"/>
          <p:nvPr/>
        </p:nvSpPr>
        <p:spPr>
          <a:xfrm>
            <a:off x="6803136" y="2313432"/>
            <a:ext cx="274320" cy="31089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a:t>
            </a:r>
            <a:endParaRPr lang="en-US" sz="1600" dirty="0"/>
          </a:p>
        </p:txBody>
      </p:sp>
      <p:sp>
        <p:nvSpPr>
          <p:cNvPr id="90" name="Shape 88"/>
          <p:cNvSpPr/>
          <p:nvPr/>
        </p:nvSpPr>
        <p:spPr>
          <a:xfrm>
            <a:off x="7159752" y="2313432"/>
            <a:ext cx="274320" cy="310896"/>
          </a:xfrm>
          <a:prstGeom prst="roundRect">
            <a:avLst>
              <a:gd name="adj" fmla="val 20000"/>
            </a:avLst>
          </a:prstGeom>
          <a:solidFill>
            <a:srgbClr val="2DD4BF"/>
          </a:solidFill>
          <a:ln w="12700">
            <a:solidFill>
              <a:srgbClr val="2DD4BF"/>
            </a:solidFill>
            <a:prstDash val="solid"/>
          </a:ln>
        </p:spPr>
      </p:sp>
      <p:sp>
        <p:nvSpPr>
          <p:cNvPr id="91" name="Text 89"/>
          <p:cNvSpPr txBox="1"/>
          <p:nvPr/>
        </p:nvSpPr>
        <p:spPr>
          <a:xfrm>
            <a:off x="7141464" y="2313432"/>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7</a:t>
            </a:r>
            <a:endParaRPr lang="en-US" sz="1600" dirty="0"/>
          </a:p>
        </p:txBody>
      </p:sp>
      <p:sp>
        <p:nvSpPr>
          <p:cNvPr id="92" name="Shape 90"/>
          <p:cNvSpPr/>
          <p:nvPr/>
        </p:nvSpPr>
        <p:spPr>
          <a:xfrm>
            <a:off x="7470648" y="2313432"/>
            <a:ext cx="274320" cy="310896"/>
          </a:xfrm>
          <a:prstGeom prst="roundRect">
            <a:avLst>
              <a:gd name="adj" fmla="val 20000"/>
            </a:avLst>
          </a:prstGeom>
          <a:solidFill>
            <a:srgbClr val="2DD4BF"/>
          </a:solidFill>
          <a:ln w="12700">
            <a:solidFill>
              <a:srgbClr val="2DD4BF"/>
            </a:solidFill>
            <a:prstDash val="solid"/>
          </a:ln>
        </p:spPr>
      </p:sp>
      <p:sp>
        <p:nvSpPr>
          <p:cNvPr id="93" name="Text 91"/>
          <p:cNvSpPr txBox="1"/>
          <p:nvPr/>
        </p:nvSpPr>
        <p:spPr>
          <a:xfrm>
            <a:off x="7452360" y="2313432"/>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94" name="Shape 92"/>
          <p:cNvSpPr/>
          <p:nvPr/>
        </p:nvSpPr>
        <p:spPr>
          <a:xfrm>
            <a:off x="7781544" y="2313432"/>
            <a:ext cx="274320" cy="310896"/>
          </a:xfrm>
          <a:prstGeom prst="roundRect">
            <a:avLst>
              <a:gd name="adj" fmla="val 20000"/>
            </a:avLst>
          </a:prstGeom>
          <a:solidFill>
            <a:srgbClr val="2DD4BF"/>
          </a:solidFill>
          <a:ln w="12700">
            <a:solidFill>
              <a:srgbClr val="2DD4BF"/>
            </a:solidFill>
            <a:prstDash val="solid"/>
          </a:ln>
        </p:spPr>
      </p:sp>
      <p:sp>
        <p:nvSpPr>
          <p:cNvPr id="95" name="Text 93"/>
          <p:cNvSpPr txBox="1"/>
          <p:nvPr/>
        </p:nvSpPr>
        <p:spPr>
          <a:xfrm>
            <a:off x="7763256" y="2313432"/>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8</a:t>
            </a:r>
            <a:endParaRPr lang="en-US" sz="1600" dirty="0"/>
          </a:p>
        </p:txBody>
      </p:sp>
      <p:sp>
        <p:nvSpPr>
          <p:cNvPr id="96" name="Shape 94"/>
          <p:cNvSpPr/>
          <p:nvPr/>
        </p:nvSpPr>
        <p:spPr>
          <a:xfrm>
            <a:off x="8092440" y="2313432"/>
            <a:ext cx="274320" cy="310896"/>
          </a:xfrm>
          <a:prstGeom prst="roundRect">
            <a:avLst>
              <a:gd name="adj" fmla="val 20000"/>
            </a:avLst>
          </a:prstGeom>
          <a:solidFill>
            <a:srgbClr val="2DD4BF"/>
          </a:solidFill>
          <a:ln w="12700">
            <a:solidFill>
              <a:srgbClr val="2DD4BF"/>
            </a:solidFill>
            <a:prstDash val="solid"/>
          </a:ln>
        </p:spPr>
      </p:sp>
      <p:sp>
        <p:nvSpPr>
          <p:cNvPr id="97" name="Text 95"/>
          <p:cNvSpPr txBox="1"/>
          <p:nvPr/>
        </p:nvSpPr>
        <p:spPr>
          <a:xfrm>
            <a:off x="8074152" y="2313432"/>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10</a:t>
            </a:r>
            <a:endParaRPr lang="en-US" sz="1600" dirty="0"/>
          </a:p>
        </p:txBody>
      </p:sp>
      <p:sp>
        <p:nvSpPr>
          <p:cNvPr id="98" name="Text 96"/>
          <p:cNvSpPr txBox="1"/>
          <p:nvPr/>
        </p:nvSpPr>
        <p:spPr>
          <a:xfrm>
            <a:off x="5486400" y="2660904"/>
            <a:ext cx="2743200" cy="1828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pivot 8</a:t>
            </a:r>
            <a:endParaRPr lang="en-US" sz="1100" dirty="0"/>
          </a:p>
        </p:txBody>
      </p:sp>
      <p:sp>
        <p:nvSpPr>
          <p:cNvPr id="99" name="Shape 97"/>
          <p:cNvSpPr/>
          <p:nvPr/>
        </p:nvSpPr>
        <p:spPr>
          <a:xfrm>
            <a:off x="5504688" y="3026664"/>
            <a:ext cx="274320" cy="310896"/>
          </a:xfrm>
          <a:prstGeom prst="roundRect">
            <a:avLst>
              <a:gd name="adj" fmla="val 20000"/>
            </a:avLst>
          </a:prstGeom>
          <a:solidFill>
            <a:srgbClr val="22324F"/>
          </a:solidFill>
          <a:ln w="12700">
            <a:solidFill>
              <a:srgbClr val="24365A"/>
            </a:solidFill>
            <a:prstDash val="solid"/>
          </a:ln>
        </p:spPr>
      </p:sp>
      <p:sp>
        <p:nvSpPr>
          <p:cNvPr id="100" name="Text 98"/>
          <p:cNvSpPr txBox="1"/>
          <p:nvPr/>
        </p:nvSpPr>
        <p:spPr>
          <a:xfrm>
            <a:off x="5486400" y="3026664"/>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7</a:t>
            </a:r>
            <a:endParaRPr lang="en-US" sz="1600" dirty="0"/>
          </a:p>
        </p:txBody>
      </p:sp>
      <p:sp>
        <p:nvSpPr>
          <p:cNvPr id="101" name="Shape 99"/>
          <p:cNvSpPr/>
          <p:nvPr/>
        </p:nvSpPr>
        <p:spPr>
          <a:xfrm>
            <a:off x="5815584" y="3026664"/>
            <a:ext cx="274320" cy="310896"/>
          </a:xfrm>
          <a:prstGeom prst="roundRect">
            <a:avLst>
              <a:gd name="adj" fmla="val 20000"/>
            </a:avLst>
          </a:prstGeom>
          <a:solidFill>
            <a:srgbClr val="22324F"/>
          </a:solidFill>
          <a:ln w="12700">
            <a:solidFill>
              <a:srgbClr val="24365A"/>
            </a:solidFill>
            <a:prstDash val="solid"/>
          </a:ln>
        </p:spPr>
      </p:sp>
      <p:sp>
        <p:nvSpPr>
          <p:cNvPr id="102" name="Text 100"/>
          <p:cNvSpPr txBox="1"/>
          <p:nvPr/>
        </p:nvSpPr>
        <p:spPr>
          <a:xfrm>
            <a:off x="5797296" y="3026664"/>
            <a:ext cx="310896" cy="310896"/>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3</a:t>
            </a:r>
            <a:endParaRPr lang="en-US" sz="1600" dirty="0"/>
          </a:p>
        </p:txBody>
      </p:sp>
      <p:sp>
        <p:nvSpPr>
          <p:cNvPr id="103" name="Text 101"/>
          <p:cNvSpPr txBox="1"/>
          <p:nvPr/>
        </p:nvSpPr>
        <p:spPr>
          <a:xfrm>
            <a:off x="6181344" y="3026664"/>
            <a:ext cx="274320" cy="31089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a:t>
            </a:r>
            <a:endParaRPr lang="en-US" sz="1600" dirty="0"/>
          </a:p>
        </p:txBody>
      </p:sp>
      <p:sp>
        <p:nvSpPr>
          <p:cNvPr id="104" name="Shape 102"/>
          <p:cNvSpPr/>
          <p:nvPr/>
        </p:nvSpPr>
        <p:spPr>
          <a:xfrm>
            <a:off x="6537960" y="3026664"/>
            <a:ext cx="274320" cy="310896"/>
          </a:xfrm>
          <a:prstGeom prst="roundRect">
            <a:avLst>
              <a:gd name="adj" fmla="val 20000"/>
            </a:avLst>
          </a:prstGeom>
          <a:solidFill>
            <a:srgbClr val="2DD4BF"/>
          </a:solidFill>
          <a:ln w="12700">
            <a:solidFill>
              <a:srgbClr val="2DD4BF"/>
            </a:solidFill>
            <a:prstDash val="solid"/>
          </a:ln>
        </p:spPr>
      </p:sp>
      <p:sp>
        <p:nvSpPr>
          <p:cNvPr id="105" name="Text 103"/>
          <p:cNvSpPr txBox="1"/>
          <p:nvPr/>
        </p:nvSpPr>
        <p:spPr>
          <a:xfrm>
            <a:off x="6519672" y="3026664"/>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106" name="Shape 104"/>
          <p:cNvSpPr/>
          <p:nvPr/>
        </p:nvSpPr>
        <p:spPr>
          <a:xfrm>
            <a:off x="6848856" y="3026664"/>
            <a:ext cx="274320" cy="310896"/>
          </a:xfrm>
          <a:prstGeom prst="roundRect">
            <a:avLst>
              <a:gd name="adj" fmla="val 20000"/>
            </a:avLst>
          </a:prstGeom>
          <a:solidFill>
            <a:srgbClr val="2DD4BF"/>
          </a:solidFill>
          <a:ln w="12700">
            <a:solidFill>
              <a:srgbClr val="2DD4BF"/>
            </a:solidFill>
            <a:prstDash val="solid"/>
          </a:ln>
        </p:spPr>
      </p:sp>
      <p:sp>
        <p:nvSpPr>
          <p:cNvPr id="107" name="Text 105"/>
          <p:cNvSpPr txBox="1"/>
          <p:nvPr/>
        </p:nvSpPr>
        <p:spPr>
          <a:xfrm>
            <a:off x="6830568" y="3026664"/>
            <a:ext cx="310896" cy="310896"/>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7</a:t>
            </a:r>
            <a:endParaRPr lang="en-US" sz="1600" dirty="0"/>
          </a:p>
        </p:txBody>
      </p:sp>
      <p:sp>
        <p:nvSpPr>
          <p:cNvPr id="108" name="Text 106"/>
          <p:cNvSpPr txBox="1"/>
          <p:nvPr/>
        </p:nvSpPr>
        <p:spPr>
          <a:xfrm>
            <a:off x="5486400" y="3374136"/>
            <a:ext cx="2743200" cy="182880"/>
          </a:xfrm>
          <a:prstGeom prst="rect">
            <a:avLst/>
          </a:prstGeom>
          <a:noFill/>
          <a:ln/>
        </p:spPr>
        <p:txBody>
          <a:bodyPr wrap="square" lIns="0" tIns="0" rIns="0" bIns="0" rtlCol="0" anchor="t"/>
          <a:lstStyle/>
          <a:p>
            <a:pPr indent="0" marL="0">
              <a:buNone/>
            </a:pPr>
            <a:r>
              <a:rPr lang="en-US" sz="1100" dirty="0">
                <a:solidFill>
                  <a:srgbClr val="94A3B8"/>
                </a:solidFill>
                <a:latin typeface="Calibri" pitchFamily="34" charset="0"/>
                <a:ea typeface="Calibri" pitchFamily="34" charset="-122"/>
                <a:cs typeface="Calibri" pitchFamily="34" charset="-120"/>
              </a:rPr>
              <a:t>pivot 3</a:t>
            </a:r>
            <a:endParaRPr lang="en-US" sz="1100" dirty="0"/>
          </a:p>
        </p:txBody>
      </p:sp>
      <p:sp>
        <p:nvSpPr>
          <p:cNvPr id="109" name="Text 107"/>
          <p:cNvSpPr txBox="1"/>
          <p:nvPr/>
        </p:nvSpPr>
        <p:spPr>
          <a:xfrm>
            <a:off x="5486400" y="3749040"/>
            <a:ext cx="3108960" cy="27432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[10] has one element: stop</a:t>
            </a:r>
            <a:endParaRPr lang="en-US" sz="1300" dirty="0"/>
          </a:p>
        </p:txBody>
      </p:sp>
      <p:sp>
        <p:nvSpPr>
          <p:cNvPr id="110" name="Shape 108"/>
          <p:cNvSpPr/>
          <p:nvPr/>
        </p:nvSpPr>
        <p:spPr>
          <a:xfrm>
            <a:off x="365760" y="4224528"/>
            <a:ext cx="8412480" cy="566928"/>
          </a:xfrm>
          <a:prstGeom prst="roundRect">
            <a:avLst>
              <a:gd name="adj" fmla="val 16129"/>
            </a:avLst>
          </a:prstGeom>
          <a:solidFill>
            <a:srgbClr val="2DD4BF"/>
          </a:solidFill>
          <a:ln w="12700">
            <a:solidFill>
              <a:srgbClr val="2DD4BF"/>
            </a:solidFill>
            <a:prstDash val="solid"/>
          </a:ln>
        </p:spPr>
      </p:sp>
      <p:sp>
        <p:nvSpPr>
          <p:cNvPr id="111" name="Text 109"/>
          <p:cNvSpPr txBox="1"/>
          <p:nvPr/>
        </p:nvSpPr>
        <p:spPr>
          <a:xfrm>
            <a:off x="548640" y="4224528"/>
            <a:ext cx="914400" cy="566928"/>
          </a:xfrm>
          <a:prstGeom prst="rect">
            <a:avLst/>
          </a:prstGeom>
          <a:noFill/>
          <a:ln/>
        </p:spPr>
        <p:txBody>
          <a:bodyPr wrap="square" lIns="0" tIns="0" rIns="0" bIns="0" rtlCol="0" anchor="ctr"/>
          <a:lstStyle/>
          <a:p>
            <a:pPr indent="0" marL="0">
              <a:buNone/>
            </a:pPr>
            <a:r>
              <a:rPr lang="en-US" sz="1400" b="1" dirty="0">
                <a:solidFill>
                  <a:srgbClr val="0B1220"/>
                </a:solidFill>
                <a:latin typeface="Calibri" pitchFamily="34" charset="0"/>
                <a:ea typeface="Calibri" pitchFamily="34" charset="-122"/>
                <a:cs typeface="Calibri" pitchFamily="34" charset="-120"/>
              </a:rPr>
              <a:t>SORTED</a:t>
            </a:r>
            <a:endParaRPr lang="en-US" sz="1400" dirty="0"/>
          </a:p>
        </p:txBody>
      </p:sp>
      <p:sp>
        <p:nvSpPr>
          <p:cNvPr id="112" name="Shape 110"/>
          <p:cNvSpPr/>
          <p:nvPr/>
        </p:nvSpPr>
        <p:spPr>
          <a:xfrm>
            <a:off x="1481328" y="4297680"/>
            <a:ext cx="384048" cy="420624"/>
          </a:xfrm>
          <a:prstGeom prst="roundRect">
            <a:avLst>
              <a:gd name="adj" fmla="val 14286"/>
            </a:avLst>
          </a:prstGeom>
          <a:solidFill>
            <a:srgbClr val="22324F"/>
          </a:solidFill>
          <a:ln w="12700">
            <a:solidFill>
              <a:srgbClr val="24365A"/>
            </a:solidFill>
            <a:prstDash val="solid"/>
          </a:ln>
        </p:spPr>
      </p:sp>
      <p:sp>
        <p:nvSpPr>
          <p:cNvPr id="113" name="Text 111"/>
          <p:cNvSpPr txBox="1"/>
          <p:nvPr/>
        </p:nvSpPr>
        <p:spPr>
          <a:xfrm>
            <a:off x="1463040" y="42976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0</a:t>
            </a:r>
            <a:endParaRPr lang="en-US" sz="1600" dirty="0"/>
          </a:p>
        </p:txBody>
      </p:sp>
      <p:sp>
        <p:nvSpPr>
          <p:cNvPr id="114" name="Shape 112"/>
          <p:cNvSpPr/>
          <p:nvPr/>
        </p:nvSpPr>
        <p:spPr>
          <a:xfrm>
            <a:off x="1901952" y="4297680"/>
            <a:ext cx="384048" cy="420624"/>
          </a:xfrm>
          <a:prstGeom prst="roundRect">
            <a:avLst>
              <a:gd name="adj" fmla="val 14286"/>
            </a:avLst>
          </a:prstGeom>
          <a:solidFill>
            <a:srgbClr val="22324F"/>
          </a:solidFill>
          <a:ln w="12700">
            <a:solidFill>
              <a:srgbClr val="24365A"/>
            </a:solidFill>
            <a:prstDash val="solid"/>
          </a:ln>
        </p:spPr>
      </p:sp>
      <p:sp>
        <p:nvSpPr>
          <p:cNvPr id="115" name="Text 113"/>
          <p:cNvSpPr txBox="1"/>
          <p:nvPr/>
        </p:nvSpPr>
        <p:spPr>
          <a:xfrm>
            <a:off x="1883664" y="42976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a:t>
            </a:r>
            <a:endParaRPr lang="en-US" sz="1600" dirty="0"/>
          </a:p>
        </p:txBody>
      </p:sp>
      <p:sp>
        <p:nvSpPr>
          <p:cNvPr id="116" name="Shape 114"/>
          <p:cNvSpPr/>
          <p:nvPr/>
        </p:nvSpPr>
        <p:spPr>
          <a:xfrm>
            <a:off x="2322576" y="4297680"/>
            <a:ext cx="384048" cy="420624"/>
          </a:xfrm>
          <a:prstGeom prst="roundRect">
            <a:avLst>
              <a:gd name="adj" fmla="val 14286"/>
            </a:avLst>
          </a:prstGeom>
          <a:solidFill>
            <a:srgbClr val="22324F"/>
          </a:solidFill>
          <a:ln w="12700">
            <a:solidFill>
              <a:srgbClr val="24365A"/>
            </a:solidFill>
            <a:prstDash val="solid"/>
          </a:ln>
        </p:spPr>
      </p:sp>
      <p:sp>
        <p:nvSpPr>
          <p:cNvPr id="117" name="Text 115"/>
          <p:cNvSpPr txBox="1"/>
          <p:nvPr/>
        </p:nvSpPr>
        <p:spPr>
          <a:xfrm>
            <a:off x="2304288" y="42976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2</a:t>
            </a:r>
            <a:endParaRPr lang="en-US" sz="1600" dirty="0"/>
          </a:p>
        </p:txBody>
      </p:sp>
      <p:sp>
        <p:nvSpPr>
          <p:cNvPr id="118" name="Shape 116"/>
          <p:cNvSpPr/>
          <p:nvPr/>
        </p:nvSpPr>
        <p:spPr>
          <a:xfrm>
            <a:off x="2743200" y="4297680"/>
            <a:ext cx="384048" cy="420624"/>
          </a:xfrm>
          <a:prstGeom prst="roundRect">
            <a:avLst>
              <a:gd name="adj" fmla="val 14286"/>
            </a:avLst>
          </a:prstGeom>
          <a:solidFill>
            <a:srgbClr val="22324F"/>
          </a:solidFill>
          <a:ln w="12700">
            <a:solidFill>
              <a:srgbClr val="24365A"/>
            </a:solidFill>
            <a:prstDash val="solid"/>
          </a:ln>
        </p:spPr>
      </p:sp>
      <p:sp>
        <p:nvSpPr>
          <p:cNvPr id="119" name="Text 117"/>
          <p:cNvSpPr txBox="1"/>
          <p:nvPr/>
        </p:nvSpPr>
        <p:spPr>
          <a:xfrm>
            <a:off x="2724912" y="42976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3</a:t>
            </a:r>
            <a:endParaRPr lang="en-US" sz="1600" dirty="0"/>
          </a:p>
        </p:txBody>
      </p:sp>
      <p:sp>
        <p:nvSpPr>
          <p:cNvPr id="120" name="Shape 118"/>
          <p:cNvSpPr/>
          <p:nvPr/>
        </p:nvSpPr>
        <p:spPr>
          <a:xfrm>
            <a:off x="3163824" y="4297680"/>
            <a:ext cx="384048" cy="420624"/>
          </a:xfrm>
          <a:prstGeom prst="roundRect">
            <a:avLst>
              <a:gd name="adj" fmla="val 14286"/>
            </a:avLst>
          </a:prstGeom>
          <a:solidFill>
            <a:srgbClr val="22324F"/>
          </a:solidFill>
          <a:ln w="12700">
            <a:solidFill>
              <a:srgbClr val="24365A"/>
            </a:solidFill>
            <a:prstDash val="solid"/>
          </a:ln>
        </p:spPr>
      </p:sp>
      <p:sp>
        <p:nvSpPr>
          <p:cNvPr id="121" name="Text 119"/>
          <p:cNvSpPr txBox="1"/>
          <p:nvPr/>
        </p:nvSpPr>
        <p:spPr>
          <a:xfrm>
            <a:off x="3145536" y="42976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7</a:t>
            </a:r>
            <a:endParaRPr lang="en-US" sz="1600" dirty="0"/>
          </a:p>
        </p:txBody>
      </p:sp>
      <p:sp>
        <p:nvSpPr>
          <p:cNvPr id="122" name="Shape 120"/>
          <p:cNvSpPr/>
          <p:nvPr/>
        </p:nvSpPr>
        <p:spPr>
          <a:xfrm>
            <a:off x="3584448" y="4297680"/>
            <a:ext cx="384048" cy="420624"/>
          </a:xfrm>
          <a:prstGeom prst="roundRect">
            <a:avLst>
              <a:gd name="adj" fmla="val 14286"/>
            </a:avLst>
          </a:prstGeom>
          <a:solidFill>
            <a:srgbClr val="22324F"/>
          </a:solidFill>
          <a:ln w="12700">
            <a:solidFill>
              <a:srgbClr val="24365A"/>
            </a:solidFill>
            <a:prstDash val="solid"/>
          </a:ln>
        </p:spPr>
      </p:sp>
      <p:sp>
        <p:nvSpPr>
          <p:cNvPr id="123" name="Text 121"/>
          <p:cNvSpPr txBox="1"/>
          <p:nvPr/>
        </p:nvSpPr>
        <p:spPr>
          <a:xfrm>
            <a:off x="3566160" y="42976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8</a:t>
            </a:r>
            <a:endParaRPr lang="en-US" sz="1600" dirty="0"/>
          </a:p>
        </p:txBody>
      </p:sp>
      <p:sp>
        <p:nvSpPr>
          <p:cNvPr id="124" name="Shape 122"/>
          <p:cNvSpPr/>
          <p:nvPr/>
        </p:nvSpPr>
        <p:spPr>
          <a:xfrm>
            <a:off x="4005072" y="4297680"/>
            <a:ext cx="384048" cy="420624"/>
          </a:xfrm>
          <a:prstGeom prst="roundRect">
            <a:avLst>
              <a:gd name="adj" fmla="val 14286"/>
            </a:avLst>
          </a:prstGeom>
          <a:solidFill>
            <a:srgbClr val="22324F"/>
          </a:solidFill>
          <a:ln w="12700">
            <a:solidFill>
              <a:srgbClr val="24365A"/>
            </a:solidFill>
            <a:prstDash val="solid"/>
          </a:ln>
        </p:spPr>
      </p:sp>
      <p:sp>
        <p:nvSpPr>
          <p:cNvPr id="125" name="Text 123"/>
          <p:cNvSpPr txBox="1"/>
          <p:nvPr/>
        </p:nvSpPr>
        <p:spPr>
          <a:xfrm>
            <a:off x="3986784" y="4297680"/>
            <a:ext cx="420624" cy="420624"/>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10</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06</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PERFORMANCE</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Time and Space Complexity</a:t>
            </a:r>
            <a:endParaRPr lang="en-US" sz="3400" dirty="0"/>
          </a:p>
        </p:txBody>
      </p:sp>
      <p:sp>
        <p:nvSpPr>
          <p:cNvPr id="5" name="Shape 3"/>
          <p:cNvSpPr/>
          <p:nvPr/>
        </p:nvSpPr>
        <p:spPr>
          <a:xfrm>
            <a:off x="365760" y="1280160"/>
            <a:ext cx="2011680" cy="1097280"/>
          </a:xfrm>
          <a:prstGeom prst="roundRect">
            <a:avLst>
              <a:gd name="adj" fmla="val 8333"/>
            </a:avLst>
          </a:prstGeom>
          <a:solidFill>
            <a:srgbClr val="15233B"/>
          </a:solidFill>
          <a:ln w="12700">
            <a:solidFill>
              <a:srgbClr val="24365A"/>
            </a:solidFill>
            <a:prstDash val="solid"/>
          </a:ln>
        </p:spPr>
      </p:sp>
      <p:sp>
        <p:nvSpPr>
          <p:cNvPr id="6" name="Text 4"/>
          <p:cNvSpPr txBox="1"/>
          <p:nvPr/>
        </p:nvSpPr>
        <p:spPr>
          <a:xfrm>
            <a:off x="365760" y="1353312"/>
            <a:ext cx="2011680" cy="228600"/>
          </a:xfrm>
          <a:prstGeom prst="rect">
            <a:avLst/>
          </a:prstGeom>
          <a:noFill/>
          <a:ln/>
        </p:spPr>
        <p:txBody>
          <a:bodyPr wrap="square" lIns="0" tIns="0" rIns="0" bIns="0" rtlCol="0" anchor="t"/>
          <a:lstStyle/>
          <a:p>
            <a:pPr algn="ctr" indent="0" marL="0">
              <a:buNone/>
            </a:pPr>
            <a:r>
              <a:rPr lang="en-US" sz="1100" b="1" spc="200" kern="0" dirty="0">
                <a:solidFill>
                  <a:srgbClr val="94A3B8"/>
                </a:solidFill>
                <a:latin typeface="Calibri" pitchFamily="34" charset="0"/>
                <a:ea typeface="Calibri" pitchFamily="34" charset="-122"/>
                <a:cs typeface="Calibri" pitchFamily="34" charset="-120"/>
              </a:rPr>
              <a:t>BEST TIME</a:t>
            </a:r>
            <a:endParaRPr lang="en-US" sz="1100" dirty="0"/>
          </a:p>
        </p:txBody>
      </p:sp>
      <p:sp>
        <p:nvSpPr>
          <p:cNvPr id="7" name="Text 5"/>
          <p:cNvSpPr txBox="1"/>
          <p:nvPr/>
        </p:nvSpPr>
        <p:spPr>
          <a:xfrm>
            <a:off x="365760" y="1645920"/>
            <a:ext cx="2011680" cy="548640"/>
          </a:xfrm>
          <a:prstGeom prst="rect">
            <a:avLst/>
          </a:prstGeom>
          <a:noFill/>
          <a:ln/>
        </p:spPr>
        <p:txBody>
          <a:bodyPr wrap="square" lIns="0" tIns="0" rIns="0" bIns="0" rtlCol="0" anchor="ctr"/>
          <a:lstStyle/>
          <a:p>
            <a:pPr algn="ctr" indent="0" marL="0">
              <a:buNone/>
            </a:pPr>
            <a:r>
              <a:rPr lang="en-US" sz="2800" b="1" dirty="0">
                <a:solidFill>
                  <a:srgbClr val="4ADE80"/>
                </a:solidFill>
                <a:latin typeface="Cambria" pitchFamily="34" charset="0"/>
                <a:ea typeface="Cambria" pitchFamily="34" charset="-122"/>
                <a:cs typeface="Cambria" pitchFamily="34" charset="-120"/>
              </a:rPr>
              <a:t>n log n</a:t>
            </a:r>
            <a:endParaRPr lang="en-US" sz="2800" dirty="0"/>
          </a:p>
        </p:txBody>
      </p:sp>
      <p:sp>
        <p:nvSpPr>
          <p:cNvPr id="8" name="Shape 6"/>
          <p:cNvSpPr/>
          <p:nvPr/>
        </p:nvSpPr>
        <p:spPr>
          <a:xfrm>
            <a:off x="2496312" y="1280160"/>
            <a:ext cx="2011680" cy="1097280"/>
          </a:xfrm>
          <a:prstGeom prst="roundRect">
            <a:avLst>
              <a:gd name="adj" fmla="val 8333"/>
            </a:avLst>
          </a:prstGeom>
          <a:solidFill>
            <a:srgbClr val="15233B"/>
          </a:solidFill>
          <a:ln w="12700">
            <a:solidFill>
              <a:srgbClr val="24365A"/>
            </a:solidFill>
            <a:prstDash val="solid"/>
          </a:ln>
        </p:spPr>
      </p:sp>
      <p:sp>
        <p:nvSpPr>
          <p:cNvPr id="9" name="Text 7"/>
          <p:cNvSpPr txBox="1"/>
          <p:nvPr/>
        </p:nvSpPr>
        <p:spPr>
          <a:xfrm>
            <a:off x="2496312" y="1353312"/>
            <a:ext cx="2011680" cy="228600"/>
          </a:xfrm>
          <a:prstGeom prst="rect">
            <a:avLst/>
          </a:prstGeom>
          <a:noFill/>
          <a:ln/>
        </p:spPr>
        <p:txBody>
          <a:bodyPr wrap="square" lIns="0" tIns="0" rIns="0" bIns="0" rtlCol="0" anchor="t"/>
          <a:lstStyle/>
          <a:p>
            <a:pPr algn="ctr" indent="0" marL="0">
              <a:buNone/>
            </a:pPr>
            <a:r>
              <a:rPr lang="en-US" sz="1100" b="1" spc="200" kern="0" dirty="0">
                <a:solidFill>
                  <a:srgbClr val="94A3B8"/>
                </a:solidFill>
                <a:latin typeface="Calibri" pitchFamily="34" charset="0"/>
                <a:ea typeface="Calibri" pitchFamily="34" charset="-122"/>
                <a:cs typeface="Calibri" pitchFamily="34" charset="-120"/>
              </a:rPr>
              <a:t>AVERAGE TIME</a:t>
            </a:r>
            <a:endParaRPr lang="en-US" sz="1100" dirty="0"/>
          </a:p>
        </p:txBody>
      </p:sp>
      <p:sp>
        <p:nvSpPr>
          <p:cNvPr id="10" name="Text 8"/>
          <p:cNvSpPr txBox="1"/>
          <p:nvPr/>
        </p:nvSpPr>
        <p:spPr>
          <a:xfrm>
            <a:off x="2496312" y="1645920"/>
            <a:ext cx="2011680" cy="548640"/>
          </a:xfrm>
          <a:prstGeom prst="rect">
            <a:avLst/>
          </a:prstGeom>
          <a:noFill/>
          <a:ln/>
        </p:spPr>
        <p:txBody>
          <a:bodyPr wrap="square" lIns="0" tIns="0" rIns="0" bIns="0" rtlCol="0" anchor="ctr"/>
          <a:lstStyle/>
          <a:p>
            <a:pPr algn="ctr" indent="0" marL="0">
              <a:buNone/>
            </a:pPr>
            <a:r>
              <a:rPr lang="en-US" sz="2800" b="1" dirty="0">
                <a:solidFill>
                  <a:srgbClr val="2DD4BF"/>
                </a:solidFill>
                <a:latin typeface="Cambria" pitchFamily="34" charset="0"/>
                <a:ea typeface="Cambria" pitchFamily="34" charset="-122"/>
                <a:cs typeface="Cambria" pitchFamily="34" charset="-120"/>
              </a:rPr>
              <a:t>n log n</a:t>
            </a:r>
            <a:endParaRPr lang="en-US" sz="2800" dirty="0"/>
          </a:p>
        </p:txBody>
      </p:sp>
      <p:sp>
        <p:nvSpPr>
          <p:cNvPr id="11" name="Shape 9"/>
          <p:cNvSpPr/>
          <p:nvPr/>
        </p:nvSpPr>
        <p:spPr>
          <a:xfrm>
            <a:off x="4626864" y="1280160"/>
            <a:ext cx="2011680" cy="1097280"/>
          </a:xfrm>
          <a:prstGeom prst="roundRect">
            <a:avLst>
              <a:gd name="adj" fmla="val 8333"/>
            </a:avLst>
          </a:prstGeom>
          <a:solidFill>
            <a:srgbClr val="15233B"/>
          </a:solidFill>
          <a:ln w="12700">
            <a:solidFill>
              <a:srgbClr val="24365A"/>
            </a:solidFill>
            <a:prstDash val="solid"/>
          </a:ln>
        </p:spPr>
      </p:sp>
      <p:sp>
        <p:nvSpPr>
          <p:cNvPr id="12" name="Text 10"/>
          <p:cNvSpPr txBox="1"/>
          <p:nvPr/>
        </p:nvSpPr>
        <p:spPr>
          <a:xfrm>
            <a:off x="4626864" y="1353312"/>
            <a:ext cx="2011680" cy="228600"/>
          </a:xfrm>
          <a:prstGeom prst="rect">
            <a:avLst/>
          </a:prstGeom>
          <a:noFill/>
          <a:ln/>
        </p:spPr>
        <p:txBody>
          <a:bodyPr wrap="square" lIns="0" tIns="0" rIns="0" bIns="0" rtlCol="0" anchor="t"/>
          <a:lstStyle/>
          <a:p>
            <a:pPr algn="ctr" indent="0" marL="0">
              <a:buNone/>
            </a:pPr>
            <a:r>
              <a:rPr lang="en-US" sz="1100" b="1" spc="200" kern="0" dirty="0">
                <a:solidFill>
                  <a:srgbClr val="94A3B8"/>
                </a:solidFill>
                <a:latin typeface="Calibri" pitchFamily="34" charset="0"/>
                <a:ea typeface="Calibri" pitchFamily="34" charset="-122"/>
                <a:cs typeface="Calibri" pitchFamily="34" charset="-120"/>
              </a:rPr>
              <a:t>WORST TIME</a:t>
            </a:r>
            <a:endParaRPr lang="en-US" sz="1100" dirty="0"/>
          </a:p>
        </p:txBody>
      </p:sp>
      <p:sp>
        <p:nvSpPr>
          <p:cNvPr id="13" name="Text 11"/>
          <p:cNvSpPr txBox="1"/>
          <p:nvPr/>
        </p:nvSpPr>
        <p:spPr>
          <a:xfrm>
            <a:off x="4626864" y="1645920"/>
            <a:ext cx="2011680" cy="548640"/>
          </a:xfrm>
          <a:prstGeom prst="rect">
            <a:avLst/>
          </a:prstGeom>
          <a:noFill/>
          <a:ln/>
        </p:spPr>
        <p:txBody>
          <a:bodyPr wrap="square" lIns="0" tIns="0" rIns="0" bIns="0" rtlCol="0" anchor="ctr"/>
          <a:lstStyle/>
          <a:p>
            <a:pPr algn="ctr" indent="0" marL="0">
              <a:buNone/>
            </a:pPr>
            <a:r>
              <a:rPr lang="en-US" sz="2800" b="1" dirty="0">
                <a:solidFill>
                  <a:srgbClr val="FB7185"/>
                </a:solidFill>
                <a:latin typeface="Cambria" pitchFamily="34" charset="0"/>
                <a:ea typeface="Cambria" pitchFamily="34" charset="-122"/>
                <a:cs typeface="Cambria" pitchFamily="34" charset="-120"/>
              </a:rPr>
              <a:t>n²</a:t>
            </a:r>
            <a:endParaRPr lang="en-US" sz="2800" dirty="0"/>
          </a:p>
        </p:txBody>
      </p:sp>
      <p:sp>
        <p:nvSpPr>
          <p:cNvPr id="14" name="Shape 12"/>
          <p:cNvSpPr/>
          <p:nvPr/>
        </p:nvSpPr>
        <p:spPr>
          <a:xfrm>
            <a:off x="6757416" y="1280160"/>
            <a:ext cx="2011680" cy="1097280"/>
          </a:xfrm>
          <a:prstGeom prst="roundRect">
            <a:avLst>
              <a:gd name="adj" fmla="val 8333"/>
            </a:avLst>
          </a:prstGeom>
          <a:solidFill>
            <a:srgbClr val="15233B"/>
          </a:solidFill>
          <a:ln w="12700">
            <a:solidFill>
              <a:srgbClr val="24365A"/>
            </a:solidFill>
            <a:prstDash val="solid"/>
          </a:ln>
        </p:spPr>
      </p:sp>
      <p:sp>
        <p:nvSpPr>
          <p:cNvPr id="15" name="Text 13"/>
          <p:cNvSpPr txBox="1"/>
          <p:nvPr/>
        </p:nvSpPr>
        <p:spPr>
          <a:xfrm>
            <a:off x="6757416" y="1353312"/>
            <a:ext cx="2011680" cy="228600"/>
          </a:xfrm>
          <a:prstGeom prst="rect">
            <a:avLst/>
          </a:prstGeom>
          <a:noFill/>
          <a:ln/>
        </p:spPr>
        <p:txBody>
          <a:bodyPr wrap="square" lIns="0" tIns="0" rIns="0" bIns="0" rtlCol="0" anchor="t"/>
          <a:lstStyle/>
          <a:p>
            <a:pPr algn="ctr" indent="0" marL="0">
              <a:buNone/>
            </a:pPr>
            <a:r>
              <a:rPr lang="en-US" sz="1100" b="1" spc="200" kern="0" dirty="0">
                <a:solidFill>
                  <a:srgbClr val="94A3B8"/>
                </a:solidFill>
                <a:latin typeface="Calibri" pitchFamily="34" charset="0"/>
                <a:ea typeface="Calibri" pitchFamily="34" charset="-122"/>
                <a:cs typeface="Calibri" pitchFamily="34" charset="-120"/>
              </a:rPr>
              <a:t>SPACE (STACK)</a:t>
            </a:r>
            <a:endParaRPr lang="en-US" sz="1100" dirty="0"/>
          </a:p>
        </p:txBody>
      </p:sp>
      <p:sp>
        <p:nvSpPr>
          <p:cNvPr id="16" name="Text 14"/>
          <p:cNvSpPr txBox="1"/>
          <p:nvPr/>
        </p:nvSpPr>
        <p:spPr>
          <a:xfrm>
            <a:off x="6757416" y="1645920"/>
            <a:ext cx="2011680" cy="548640"/>
          </a:xfrm>
          <a:prstGeom prst="rect">
            <a:avLst/>
          </a:prstGeom>
          <a:noFill/>
          <a:ln/>
        </p:spPr>
        <p:txBody>
          <a:bodyPr wrap="square" lIns="0" tIns="0" rIns="0" bIns="0" rtlCol="0" anchor="ctr"/>
          <a:lstStyle/>
          <a:p>
            <a:pPr algn="ctr" indent="0" marL="0">
              <a:buNone/>
            </a:pPr>
            <a:r>
              <a:rPr lang="en-US" sz="2800" b="1" dirty="0">
                <a:solidFill>
                  <a:srgbClr val="FBBF24"/>
                </a:solidFill>
                <a:latin typeface="Cambria" pitchFamily="34" charset="0"/>
                <a:ea typeface="Cambria" pitchFamily="34" charset="-122"/>
                <a:cs typeface="Cambria" pitchFamily="34" charset="-120"/>
              </a:rPr>
              <a:t>log n to n</a:t>
            </a:r>
            <a:endParaRPr lang="en-US" sz="2800" dirty="0"/>
          </a:p>
        </p:txBody>
      </p:sp>
      <p:sp>
        <p:nvSpPr>
          <p:cNvPr id="17" name="Text 15"/>
          <p:cNvSpPr txBox="1"/>
          <p:nvPr/>
        </p:nvSpPr>
        <p:spPr>
          <a:xfrm>
            <a:off x="457200" y="2468880"/>
            <a:ext cx="8229600" cy="45720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Worst case: the pivot is always the smallest or largest, so partitions are very unbalanced. Space is the recursion stack only: O(log n) average, O(n) worst.</a:t>
            </a:r>
            <a:endParaRPr lang="en-US" sz="1300" dirty="0"/>
          </a:p>
        </p:txBody>
      </p:sp>
      <p:sp>
        <p:nvSpPr>
          <p:cNvPr id="18" name="Shape 16"/>
          <p:cNvSpPr/>
          <p:nvPr/>
        </p:nvSpPr>
        <p:spPr>
          <a:xfrm>
            <a:off x="365760" y="2971800"/>
            <a:ext cx="4114800" cy="960120"/>
          </a:xfrm>
          <a:prstGeom prst="roundRect">
            <a:avLst>
              <a:gd name="adj" fmla="val 9524"/>
            </a:avLst>
          </a:prstGeom>
          <a:solidFill>
            <a:srgbClr val="15233B"/>
          </a:solidFill>
          <a:ln w="12700">
            <a:solidFill>
              <a:srgbClr val="24365A"/>
            </a:solidFill>
            <a:prstDash val="solid"/>
          </a:ln>
        </p:spPr>
      </p:sp>
      <p:sp>
        <p:nvSpPr>
          <p:cNvPr id="19" name="Shape 17"/>
          <p:cNvSpPr/>
          <p:nvPr/>
        </p:nvSpPr>
        <p:spPr>
          <a:xfrm>
            <a:off x="4663440" y="2971800"/>
            <a:ext cx="4114800" cy="960120"/>
          </a:xfrm>
          <a:prstGeom prst="roundRect">
            <a:avLst>
              <a:gd name="adj" fmla="val 9524"/>
            </a:avLst>
          </a:prstGeom>
          <a:solidFill>
            <a:srgbClr val="15233B"/>
          </a:solidFill>
          <a:ln w="12700">
            <a:solidFill>
              <a:srgbClr val="24365A"/>
            </a:solidFill>
            <a:prstDash val="solid"/>
          </a:ln>
        </p:spPr>
      </p:sp>
      <p:sp>
        <p:nvSpPr>
          <p:cNvPr id="20" name="Text 18"/>
          <p:cNvSpPr txBox="1"/>
          <p:nvPr/>
        </p:nvSpPr>
        <p:spPr>
          <a:xfrm>
            <a:off x="548640" y="3035808"/>
            <a:ext cx="3657600" cy="274320"/>
          </a:xfrm>
          <a:prstGeom prst="rect">
            <a:avLst/>
          </a:prstGeom>
          <a:noFill/>
          <a:ln/>
        </p:spPr>
        <p:txBody>
          <a:bodyPr wrap="square" lIns="0" tIns="0" rIns="0" bIns="0" rtlCol="0" anchor="t"/>
          <a:lstStyle/>
          <a:p>
            <a:pPr indent="0" marL="0">
              <a:buNone/>
            </a:pPr>
            <a:r>
              <a:rPr lang="en-US" sz="1500" b="1" dirty="0">
                <a:solidFill>
                  <a:srgbClr val="4ADE80"/>
                </a:solidFill>
                <a:latin typeface="Calibri" pitchFamily="34" charset="0"/>
                <a:ea typeface="Calibri" pitchFamily="34" charset="-122"/>
                <a:cs typeface="Calibri" pitchFamily="34" charset="-120"/>
              </a:rPr>
              <a:t>Advantages</a:t>
            </a:r>
            <a:endParaRPr lang="en-US" sz="1500" dirty="0"/>
          </a:p>
        </p:txBody>
      </p:sp>
      <p:sp>
        <p:nvSpPr>
          <p:cNvPr id="21" name="Text 19"/>
          <p:cNvSpPr txBox="1"/>
          <p:nvPr/>
        </p:nvSpPr>
        <p:spPr>
          <a:xfrm>
            <a:off x="548640" y="3355848"/>
            <a:ext cx="3749040" cy="502920"/>
          </a:xfrm>
          <a:prstGeom prst="rect">
            <a:avLst/>
          </a:prstGeom>
          <a:noFill/>
          <a:ln/>
        </p:spPr>
        <p:txBody>
          <a:bodyPr wrap="square" lIns="0" tIns="0" rIns="0" bIns="0" rtlCol="0" anchor="t"/>
          <a:lstStyle/>
          <a:p>
            <a:pPr indent="0" marL="0">
              <a:buNone/>
            </a:pPr>
            <a:r>
              <a:rPr lang="en-US" sz="1300" dirty="0">
                <a:solidFill>
                  <a:srgbClr val="F1F5F9"/>
                </a:solidFill>
                <a:latin typeface="Calibri" pitchFamily="34" charset="0"/>
                <a:ea typeface="Calibri" pitchFamily="34" charset="-122"/>
                <a:cs typeface="Calibri" pitchFamily="34" charset="-120"/>
              </a:rPr>
              <a:t>Fast in practice · in-place · good average case</a:t>
            </a:r>
            <a:endParaRPr lang="en-US" sz="1300" dirty="0"/>
          </a:p>
        </p:txBody>
      </p:sp>
      <p:sp>
        <p:nvSpPr>
          <p:cNvPr id="22" name="Text 20"/>
          <p:cNvSpPr txBox="1"/>
          <p:nvPr/>
        </p:nvSpPr>
        <p:spPr>
          <a:xfrm>
            <a:off x="4846320" y="3035808"/>
            <a:ext cx="3657600" cy="274320"/>
          </a:xfrm>
          <a:prstGeom prst="rect">
            <a:avLst/>
          </a:prstGeom>
          <a:noFill/>
          <a:ln/>
        </p:spPr>
        <p:txBody>
          <a:bodyPr wrap="square" lIns="0" tIns="0" rIns="0" bIns="0" rtlCol="0" anchor="t"/>
          <a:lstStyle/>
          <a:p>
            <a:pPr indent="0" marL="0">
              <a:buNone/>
            </a:pPr>
            <a:r>
              <a:rPr lang="en-US" sz="1500" b="1" dirty="0">
                <a:solidFill>
                  <a:srgbClr val="FB7185"/>
                </a:solidFill>
                <a:latin typeface="Calibri" pitchFamily="34" charset="0"/>
                <a:ea typeface="Calibri" pitchFamily="34" charset="-122"/>
                <a:cs typeface="Calibri" pitchFamily="34" charset="-120"/>
              </a:rPr>
              <a:t>Disadvantages</a:t>
            </a:r>
            <a:endParaRPr lang="en-US" sz="1500" dirty="0"/>
          </a:p>
        </p:txBody>
      </p:sp>
      <p:sp>
        <p:nvSpPr>
          <p:cNvPr id="23" name="Text 21"/>
          <p:cNvSpPr txBox="1"/>
          <p:nvPr/>
        </p:nvSpPr>
        <p:spPr>
          <a:xfrm>
            <a:off x="4846320" y="3355848"/>
            <a:ext cx="3749040" cy="502920"/>
          </a:xfrm>
          <a:prstGeom prst="rect">
            <a:avLst/>
          </a:prstGeom>
          <a:noFill/>
          <a:ln/>
        </p:spPr>
        <p:txBody>
          <a:bodyPr wrap="square" lIns="0" tIns="0" rIns="0" bIns="0" rtlCol="0" anchor="t"/>
          <a:lstStyle/>
          <a:p>
            <a:pPr indent="0" marL="0">
              <a:buNone/>
            </a:pPr>
            <a:r>
              <a:rPr lang="en-US" sz="1300" dirty="0">
                <a:solidFill>
                  <a:srgbClr val="F1F5F9"/>
                </a:solidFill>
                <a:latin typeface="Calibri" pitchFamily="34" charset="0"/>
                <a:ea typeface="Calibri" pitchFamily="34" charset="-122"/>
                <a:cs typeface="Calibri" pitchFamily="34" charset="-120"/>
              </a:rPr>
              <a:t>O(n²) worst case · not stable · pivot dependent</a:t>
            </a:r>
            <a:endParaRPr lang="en-US" sz="1300" dirty="0"/>
          </a:p>
        </p:txBody>
      </p:sp>
      <p:sp>
        <p:nvSpPr>
          <p:cNvPr id="24" name="Shape 22"/>
          <p:cNvSpPr/>
          <p:nvPr/>
        </p:nvSpPr>
        <p:spPr>
          <a:xfrm>
            <a:off x="365760" y="4069080"/>
            <a:ext cx="8412480" cy="685800"/>
          </a:xfrm>
          <a:prstGeom prst="roundRect">
            <a:avLst>
              <a:gd name="adj" fmla="val 13333"/>
            </a:avLst>
          </a:prstGeom>
          <a:solidFill>
            <a:srgbClr val="2DD4BF"/>
          </a:solidFill>
          <a:ln w="12700">
            <a:solidFill>
              <a:srgbClr val="2DD4BF"/>
            </a:solidFill>
            <a:prstDash val="solid"/>
          </a:ln>
        </p:spPr>
      </p:sp>
      <p:sp>
        <p:nvSpPr>
          <p:cNvPr id="25" name="Text 23"/>
          <p:cNvSpPr txBox="1"/>
          <p:nvPr/>
        </p:nvSpPr>
        <p:spPr>
          <a:xfrm>
            <a:off x="594360" y="4069080"/>
            <a:ext cx="7955280" cy="68580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Balanced partitions make Quick Sort fast; badly unbalanced partitions make it slow.</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07</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WHY IT STANDS OUT</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Key Features of Quick Sort</a:t>
            </a:r>
            <a:endParaRPr lang="en-US" sz="3400" dirty="0"/>
          </a:p>
        </p:txBody>
      </p:sp>
      <p:sp>
        <p:nvSpPr>
          <p:cNvPr id="5" name="Shape 3"/>
          <p:cNvSpPr/>
          <p:nvPr/>
        </p:nvSpPr>
        <p:spPr>
          <a:xfrm>
            <a:off x="365760" y="1280160"/>
            <a:ext cx="2697480" cy="1554480"/>
          </a:xfrm>
          <a:prstGeom prst="roundRect">
            <a:avLst>
              <a:gd name="adj" fmla="val 5882"/>
            </a:avLst>
          </a:prstGeom>
          <a:solidFill>
            <a:srgbClr val="15233B"/>
          </a:solidFill>
          <a:ln w="12700">
            <a:solidFill>
              <a:srgbClr val="24365A"/>
            </a:solidFill>
            <a:prstDash val="solid"/>
          </a:ln>
        </p:spPr>
      </p:sp>
      <p:sp>
        <p:nvSpPr>
          <p:cNvPr id="6" name="Shape 4"/>
          <p:cNvSpPr/>
          <p:nvPr/>
        </p:nvSpPr>
        <p:spPr>
          <a:xfrm>
            <a:off x="548640" y="1463040"/>
            <a:ext cx="384048" cy="384048"/>
          </a:xfrm>
          <a:prstGeom prst="ellipse">
            <a:avLst/>
          </a:prstGeom>
          <a:solidFill>
            <a:srgbClr val="2DD4BF"/>
          </a:solidFill>
          <a:ln/>
        </p:spPr>
      </p:sp>
      <p:sp>
        <p:nvSpPr>
          <p:cNvPr id="7" name="Text 5"/>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051560" y="146304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Divide and conquer</a:t>
            </a:r>
            <a:endParaRPr lang="en-US" sz="1600" dirty="0"/>
          </a:p>
        </p:txBody>
      </p:sp>
      <p:sp>
        <p:nvSpPr>
          <p:cNvPr id="9" name="Text 7"/>
          <p:cNvSpPr txBox="1"/>
          <p:nvPr/>
        </p:nvSpPr>
        <p:spPr>
          <a:xfrm>
            <a:off x="548640" y="201168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Splits a big problem into smaller subarrays solved the same way</a:t>
            </a:r>
            <a:endParaRPr lang="en-US" sz="1300" dirty="0"/>
          </a:p>
        </p:txBody>
      </p:sp>
      <p:sp>
        <p:nvSpPr>
          <p:cNvPr id="10" name="Shape 8"/>
          <p:cNvSpPr/>
          <p:nvPr/>
        </p:nvSpPr>
        <p:spPr>
          <a:xfrm>
            <a:off x="3200400" y="1280160"/>
            <a:ext cx="2697480" cy="1554480"/>
          </a:xfrm>
          <a:prstGeom prst="roundRect">
            <a:avLst>
              <a:gd name="adj" fmla="val 5882"/>
            </a:avLst>
          </a:prstGeom>
          <a:solidFill>
            <a:srgbClr val="15233B"/>
          </a:solidFill>
          <a:ln w="12700">
            <a:solidFill>
              <a:srgbClr val="24365A"/>
            </a:solidFill>
            <a:prstDash val="solid"/>
          </a:ln>
        </p:spPr>
      </p:sp>
      <p:sp>
        <p:nvSpPr>
          <p:cNvPr id="11" name="Shape 9"/>
          <p:cNvSpPr/>
          <p:nvPr/>
        </p:nvSpPr>
        <p:spPr>
          <a:xfrm>
            <a:off x="3383280" y="1463040"/>
            <a:ext cx="384048" cy="384048"/>
          </a:xfrm>
          <a:prstGeom prst="ellipse">
            <a:avLst/>
          </a:prstGeom>
          <a:solidFill>
            <a:srgbClr val="4ADE80"/>
          </a:solidFill>
          <a:ln/>
        </p:spPr>
      </p:sp>
      <p:sp>
        <p:nvSpPr>
          <p:cNvPr id="12" name="Text 10"/>
          <p:cNvSpPr txBox="1"/>
          <p:nvPr/>
        </p:nvSpPr>
        <p:spPr>
          <a:xfrm>
            <a:off x="3383280" y="146304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3886200" y="146304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In-place sorting</a:t>
            </a:r>
            <a:endParaRPr lang="en-US" sz="1600" dirty="0"/>
          </a:p>
        </p:txBody>
      </p:sp>
      <p:sp>
        <p:nvSpPr>
          <p:cNvPr id="14" name="Text 12"/>
          <p:cNvSpPr txBox="1"/>
          <p:nvPr/>
        </p:nvSpPr>
        <p:spPr>
          <a:xfrm>
            <a:off x="3383280" y="201168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Rearranges the array itself; no second full-size array needed</a:t>
            </a:r>
            <a:endParaRPr lang="en-US" sz="1300" dirty="0"/>
          </a:p>
        </p:txBody>
      </p:sp>
      <p:sp>
        <p:nvSpPr>
          <p:cNvPr id="15" name="Shape 13"/>
          <p:cNvSpPr/>
          <p:nvPr/>
        </p:nvSpPr>
        <p:spPr>
          <a:xfrm>
            <a:off x="6035040" y="1280160"/>
            <a:ext cx="2697480" cy="1554480"/>
          </a:xfrm>
          <a:prstGeom prst="roundRect">
            <a:avLst>
              <a:gd name="adj" fmla="val 5882"/>
            </a:avLst>
          </a:prstGeom>
          <a:solidFill>
            <a:srgbClr val="15233B"/>
          </a:solidFill>
          <a:ln w="12700">
            <a:solidFill>
              <a:srgbClr val="24365A"/>
            </a:solidFill>
            <a:prstDash val="solid"/>
          </a:ln>
        </p:spPr>
      </p:sp>
      <p:sp>
        <p:nvSpPr>
          <p:cNvPr id="16" name="Shape 14"/>
          <p:cNvSpPr/>
          <p:nvPr/>
        </p:nvSpPr>
        <p:spPr>
          <a:xfrm>
            <a:off x="6217920" y="1463040"/>
            <a:ext cx="384048" cy="384048"/>
          </a:xfrm>
          <a:prstGeom prst="ellipse">
            <a:avLst/>
          </a:prstGeom>
          <a:solidFill>
            <a:srgbClr val="FBBF24"/>
          </a:solidFill>
          <a:ln/>
        </p:spPr>
      </p:sp>
      <p:sp>
        <p:nvSpPr>
          <p:cNvPr id="17" name="Text 15"/>
          <p:cNvSpPr txBox="1"/>
          <p:nvPr/>
        </p:nvSpPr>
        <p:spPr>
          <a:xfrm>
            <a:off x="6217920" y="146304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6720840" y="146304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Fast on average</a:t>
            </a:r>
            <a:endParaRPr lang="en-US" sz="1600" dirty="0"/>
          </a:p>
        </p:txBody>
      </p:sp>
      <p:sp>
        <p:nvSpPr>
          <p:cNvPr id="19" name="Text 17"/>
          <p:cNvSpPr txBox="1"/>
          <p:nvPr/>
        </p:nvSpPr>
        <p:spPr>
          <a:xfrm>
            <a:off x="6217920" y="201168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O(n log n) average time with small constant factors</a:t>
            </a:r>
            <a:endParaRPr lang="en-US" sz="1300" dirty="0"/>
          </a:p>
        </p:txBody>
      </p:sp>
      <p:sp>
        <p:nvSpPr>
          <p:cNvPr id="20" name="Shape 18"/>
          <p:cNvSpPr/>
          <p:nvPr/>
        </p:nvSpPr>
        <p:spPr>
          <a:xfrm>
            <a:off x="365760" y="3017520"/>
            <a:ext cx="2697480" cy="1554480"/>
          </a:xfrm>
          <a:prstGeom prst="roundRect">
            <a:avLst>
              <a:gd name="adj" fmla="val 5882"/>
            </a:avLst>
          </a:prstGeom>
          <a:solidFill>
            <a:srgbClr val="15233B"/>
          </a:solidFill>
          <a:ln w="12700">
            <a:solidFill>
              <a:srgbClr val="24365A"/>
            </a:solidFill>
            <a:prstDash val="solid"/>
          </a:ln>
        </p:spPr>
      </p:sp>
      <p:sp>
        <p:nvSpPr>
          <p:cNvPr id="21" name="Shape 19"/>
          <p:cNvSpPr/>
          <p:nvPr/>
        </p:nvSpPr>
        <p:spPr>
          <a:xfrm>
            <a:off x="548640" y="3200400"/>
            <a:ext cx="384048" cy="384048"/>
          </a:xfrm>
          <a:prstGeom prst="ellipse">
            <a:avLst/>
          </a:prstGeom>
          <a:solidFill>
            <a:srgbClr val="A78BFA"/>
          </a:solidFill>
          <a:ln/>
        </p:spPr>
      </p:sp>
      <p:sp>
        <p:nvSpPr>
          <p:cNvPr id="22" name="Text 20"/>
          <p:cNvSpPr txBox="1"/>
          <p:nvPr/>
        </p:nvSpPr>
        <p:spPr>
          <a:xfrm>
            <a:off x="548640" y="320040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051560" y="320040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Cache friendly</a:t>
            </a:r>
            <a:endParaRPr lang="en-US" sz="1600" dirty="0"/>
          </a:p>
        </p:txBody>
      </p:sp>
      <p:sp>
        <p:nvSpPr>
          <p:cNvPr id="24" name="Text 22"/>
          <p:cNvSpPr txBox="1"/>
          <p:nvPr/>
        </p:nvSpPr>
        <p:spPr>
          <a:xfrm>
            <a:off x="548640" y="374904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Scans memory sequentially, which modern CPUs handle well</a:t>
            </a:r>
            <a:endParaRPr lang="en-US" sz="1300" dirty="0"/>
          </a:p>
        </p:txBody>
      </p:sp>
      <p:sp>
        <p:nvSpPr>
          <p:cNvPr id="25" name="Shape 23"/>
          <p:cNvSpPr/>
          <p:nvPr/>
        </p:nvSpPr>
        <p:spPr>
          <a:xfrm>
            <a:off x="3200400" y="3017520"/>
            <a:ext cx="2697480" cy="1554480"/>
          </a:xfrm>
          <a:prstGeom prst="roundRect">
            <a:avLst>
              <a:gd name="adj" fmla="val 5882"/>
            </a:avLst>
          </a:prstGeom>
          <a:solidFill>
            <a:srgbClr val="15233B"/>
          </a:solidFill>
          <a:ln w="12700">
            <a:solidFill>
              <a:srgbClr val="24365A"/>
            </a:solidFill>
            <a:prstDash val="solid"/>
          </a:ln>
        </p:spPr>
      </p:sp>
      <p:sp>
        <p:nvSpPr>
          <p:cNvPr id="26" name="Shape 24"/>
          <p:cNvSpPr/>
          <p:nvPr/>
        </p:nvSpPr>
        <p:spPr>
          <a:xfrm>
            <a:off x="3383280" y="3200400"/>
            <a:ext cx="384048" cy="384048"/>
          </a:xfrm>
          <a:prstGeom prst="ellipse">
            <a:avLst/>
          </a:prstGeom>
          <a:solidFill>
            <a:srgbClr val="FB7185"/>
          </a:solidFill>
          <a:ln/>
        </p:spPr>
      </p:sp>
      <p:sp>
        <p:nvSpPr>
          <p:cNvPr id="27" name="Text 25"/>
          <p:cNvSpPr txBox="1"/>
          <p:nvPr/>
        </p:nvSpPr>
        <p:spPr>
          <a:xfrm>
            <a:off x="3383280" y="320040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3886200" y="320040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Not stable</a:t>
            </a:r>
            <a:endParaRPr lang="en-US" sz="1600" dirty="0"/>
          </a:p>
        </p:txBody>
      </p:sp>
      <p:sp>
        <p:nvSpPr>
          <p:cNvPr id="29" name="Text 27"/>
          <p:cNvSpPr txBox="1"/>
          <p:nvPr/>
        </p:nvSpPr>
        <p:spPr>
          <a:xfrm>
            <a:off x="3383280" y="374904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Equal elements may change their original order</a:t>
            </a:r>
            <a:endParaRPr lang="en-US" sz="1300" dirty="0"/>
          </a:p>
        </p:txBody>
      </p:sp>
      <p:sp>
        <p:nvSpPr>
          <p:cNvPr id="30" name="Shape 28"/>
          <p:cNvSpPr/>
          <p:nvPr/>
        </p:nvSpPr>
        <p:spPr>
          <a:xfrm>
            <a:off x="6035040" y="3017520"/>
            <a:ext cx="2697480" cy="1554480"/>
          </a:xfrm>
          <a:prstGeom prst="roundRect">
            <a:avLst>
              <a:gd name="adj" fmla="val 5882"/>
            </a:avLst>
          </a:prstGeom>
          <a:solidFill>
            <a:srgbClr val="15233B"/>
          </a:solidFill>
          <a:ln w="12700">
            <a:solidFill>
              <a:srgbClr val="24365A"/>
            </a:solidFill>
            <a:prstDash val="solid"/>
          </a:ln>
        </p:spPr>
      </p:sp>
      <p:sp>
        <p:nvSpPr>
          <p:cNvPr id="31" name="Shape 29"/>
          <p:cNvSpPr/>
          <p:nvPr/>
        </p:nvSpPr>
        <p:spPr>
          <a:xfrm>
            <a:off x="6217920" y="3200400"/>
            <a:ext cx="384048" cy="384048"/>
          </a:xfrm>
          <a:prstGeom prst="ellipse">
            <a:avLst/>
          </a:prstGeom>
          <a:solidFill>
            <a:srgbClr val="2DD4BF"/>
          </a:solidFill>
          <a:ln/>
        </p:spPr>
      </p:sp>
      <p:sp>
        <p:nvSpPr>
          <p:cNvPr id="32" name="Text 30"/>
          <p:cNvSpPr txBox="1"/>
          <p:nvPr/>
        </p:nvSpPr>
        <p:spPr>
          <a:xfrm>
            <a:off x="6217920" y="320040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6720840" y="320040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Pivot dependent</a:t>
            </a:r>
            <a:endParaRPr lang="en-US" sz="1600" dirty="0"/>
          </a:p>
        </p:txBody>
      </p:sp>
      <p:sp>
        <p:nvSpPr>
          <p:cNvPr id="34" name="Text 32"/>
          <p:cNvSpPr txBox="1"/>
          <p:nvPr/>
        </p:nvSpPr>
        <p:spPr>
          <a:xfrm>
            <a:off x="6217920" y="374904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Pivot choice decides whether partitions are balanced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08</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WHERE IT IS USED</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Applications of Quick Sort</a:t>
            </a:r>
            <a:endParaRPr lang="en-US" sz="3400" dirty="0"/>
          </a:p>
        </p:txBody>
      </p:sp>
      <p:sp>
        <p:nvSpPr>
          <p:cNvPr id="5" name="Shape 3"/>
          <p:cNvSpPr/>
          <p:nvPr/>
        </p:nvSpPr>
        <p:spPr>
          <a:xfrm>
            <a:off x="365760" y="1280160"/>
            <a:ext cx="2697480" cy="1554480"/>
          </a:xfrm>
          <a:prstGeom prst="roundRect">
            <a:avLst>
              <a:gd name="adj" fmla="val 5882"/>
            </a:avLst>
          </a:prstGeom>
          <a:solidFill>
            <a:srgbClr val="15233B"/>
          </a:solidFill>
          <a:ln w="12700">
            <a:solidFill>
              <a:srgbClr val="24365A"/>
            </a:solidFill>
            <a:prstDash val="solid"/>
          </a:ln>
        </p:spPr>
      </p:sp>
      <p:sp>
        <p:nvSpPr>
          <p:cNvPr id="6" name="Shape 4"/>
          <p:cNvSpPr/>
          <p:nvPr/>
        </p:nvSpPr>
        <p:spPr>
          <a:xfrm>
            <a:off x="548640" y="1463040"/>
            <a:ext cx="384048" cy="384048"/>
          </a:xfrm>
          <a:prstGeom prst="ellipse">
            <a:avLst/>
          </a:prstGeom>
          <a:solidFill>
            <a:srgbClr val="2DD4BF"/>
          </a:solidFill>
          <a:ln/>
        </p:spPr>
      </p:sp>
      <p:sp>
        <p:nvSpPr>
          <p:cNvPr id="7" name="Text 5"/>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051560" y="146304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Standard libraries</a:t>
            </a:r>
            <a:endParaRPr lang="en-US" sz="1600" dirty="0"/>
          </a:p>
        </p:txBody>
      </p:sp>
      <p:sp>
        <p:nvSpPr>
          <p:cNvPr id="9" name="Text 7"/>
          <p:cNvSpPr txBox="1"/>
          <p:nvPr/>
        </p:nvSpPr>
        <p:spPr>
          <a:xfrm>
            <a:off x="548640" y="201168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C qsort() is named after it; Java sorts primitive arrays with dual-pivot Quick Sort; C++ std::sort uses introsort (Quick Sort based)</a:t>
            </a:r>
            <a:endParaRPr lang="en-US" sz="1300" dirty="0"/>
          </a:p>
        </p:txBody>
      </p:sp>
      <p:sp>
        <p:nvSpPr>
          <p:cNvPr id="10" name="Shape 8"/>
          <p:cNvSpPr/>
          <p:nvPr/>
        </p:nvSpPr>
        <p:spPr>
          <a:xfrm>
            <a:off x="3200400" y="1280160"/>
            <a:ext cx="2697480" cy="1554480"/>
          </a:xfrm>
          <a:prstGeom prst="roundRect">
            <a:avLst>
              <a:gd name="adj" fmla="val 5882"/>
            </a:avLst>
          </a:prstGeom>
          <a:solidFill>
            <a:srgbClr val="15233B"/>
          </a:solidFill>
          <a:ln w="12700">
            <a:solidFill>
              <a:srgbClr val="24365A"/>
            </a:solidFill>
            <a:prstDash val="solid"/>
          </a:ln>
        </p:spPr>
      </p:sp>
      <p:sp>
        <p:nvSpPr>
          <p:cNvPr id="11" name="Shape 9"/>
          <p:cNvSpPr/>
          <p:nvPr/>
        </p:nvSpPr>
        <p:spPr>
          <a:xfrm>
            <a:off x="3383280" y="1463040"/>
            <a:ext cx="384048" cy="384048"/>
          </a:xfrm>
          <a:prstGeom prst="ellipse">
            <a:avLst/>
          </a:prstGeom>
          <a:solidFill>
            <a:srgbClr val="4ADE80"/>
          </a:solidFill>
          <a:ln/>
        </p:spPr>
      </p:sp>
      <p:sp>
        <p:nvSpPr>
          <p:cNvPr id="12" name="Text 10"/>
          <p:cNvSpPr txBox="1"/>
          <p:nvPr/>
        </p:nvSpPr>
        <p:spPr>
          <a:xfrm>
            <a:off x="3383280" y="146304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3886200" y="146304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Databases</a:t>
            </a:r>
            <a:endParaRPr lang="en-US" sz="1600" dirty="0"/>
          </a:p>
        </p:txBody>
      </p:sp>
      <p:sp>
        <p:nvSpPr>
          <p:cNvPr id="14" name="Text 12"/>
          <p:cNvSpPr txBox="1"/>
          <p:nvPr/>
        </p:nvSpPr>
        <p:spPr>
          <a:xfrm>
            <a:off x="3383280" y="201168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Sorting rows for ORDER BY, building and merging indexes in memory</a:t>
            </a:r>
            <a:endParaRPr lang="en-US" sz="1300" dirty="0"/>
          </a:p>
        </p:txBody>
      </p:sp>
      <p:sp>
        <p:nvSpPr>
          <p:cNvPr id="15" name="Shape 13"/>
          <p:cNvSpPr/>
          <p:nvPr/>
        </p:nvSpPr>
        <p:spPr>
          <a:xfrm>
            <a:off x="6035040" y="1280160"/>
            <a:ext cx="2697480" cy="1554480"/>
          </a:xfrm>
          <a:prstGeom prst="roundRect">
            <a:avLst>
              <a:gd name="adj" fmla="val 5882"/>
            </a:avLst>
          </a:prstGeom>
          <a:solidFill>
            <a:srgbClr val="15233B"/>
          </a:solidFill>
          <a:ln w="12700">
            <a:solidFill>
              <a:srgbClr val="24365A"/>
            </a:solidFill>
            <a:prstDash val="solid"/>
          </a:ln>
        </p:spPr>
      </p:sp>
      <p:sp>
        <p:nvSpPr>
          <p:cNvPr id="16" name="Shape 14"/>
          <p:cNvSpPr/>
          <p:nvPr/>
        </p:nvSpPr>
        <p:spPr>
          <a:xfrm>
            <a:off x="6217920" y="1463040"/>
            <a:ext cx="384048" cy="384048"/>
          </a:xfrm>
          <a:prstGeom prst="ellipse">
            <a:avLst/>
          </a:prstGeom>
          <a:solidFill>
            <a:srgbClr val="FBBF24"/>
          </a:solidFill>
          <a:ln/>
        </p:spPr>
      </p:sp>
      <p:sp>
        <p:nvSpPr>
          <p:cNvPr id="17" name="Text 15"/>
          <p:cNvSpPr txBox="1"/>
          <p:nvPr/>
        </p:nvSpPr>
        <p:spPr>
          <a:xfrm>
            <a:off x="6217920" y="146304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6720840" y="146304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Quickselect</a:t>
            </a:r>
            <a:endParaRPr lang="en-US" sz="1600" dirty="0"/>
          </a:p>
        </p:txBody>
      </p:sp>
      <p:sp>
        <p:nvSpPr>
          <p:cNvPr id="19" name="Text 17"/>
          <p:cNvSpPr txBox="1"/>
          <p:nvPr/>
        </p:nvSpPr>
        <p:spPr>
          <a:xfrm>
            <a:off x="6217920" y="201168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A Quick Sort variant that finds the k-th smallest item or the median</a:t>
            </a:r>
            <a:endParaRPr lang="en-US" sz="1300" dirty="0"/>
          </a:p>
        </p:txBody>
      </p:sp>
      <p:sp>
        <p:nvSpPr>
          <p:cNvPr id="20" name="Shape 18"/>
          <p:cNvSpPr/>
          <p:nvPr/>
        </p:nvSpPr>
        <p:spPr>
          <a:xfrm>
            <a:off x="365760" y="3017520"/>
            <a:ext cx="2697480" cy="1554480"/>
          </a:xfrm>
          <a:prstGeom prst="roundRect">
            <a:avLst>
              <a:gd name="adj" fmla="val 5882"/>
            </a:avLst>
          </a:prstGeom>
          <a:solidFill>
            <a:srgbClr val="15233B"/>
          </a:solidFill>
          <a:ln w="12700">
            <a:solidFill>
              <a:srgbClr val="24365A"/>
            </a:solidFill>
            <a:prstDash val="solid"/>
          </a:ln>
        </p:spPr>
      </p:sp>
      <p:sp>
        <p:nvSpPr>
          <p:cNvPr id="21" name="Shape 19"/>
          <p:cNvSpPr/>
          <p:nvPr/>
        </p:nvSpPr>
        <p:spPr>
          <a:xfrm>
            <a:off x="548640" y="3200400"/>
            <a:ext cx="384048" cy="384048"/>
          </a:xfrm>
          <a:prstGeom prst="ellipse">
            <a:avLst/>
          </a:prstGeom>
          <a:solidFill>
            <a:srgbClr val="A78BFA"/>
          </a:solidFill>
          <a:ln/>
        </p:spPr>
      </p:sp>
      <p:sp>
        <p:nvSpPr>
          <p:cNvPr id="22" name="Text 20"/>
          <p:cNvSpPr txBox="1"/>
          <p:nvPr/>
        </p:nvSpPr>
        <p:spPr>
          <a:xfrm>
            <a:off x="548640" y="320040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051560" y="320040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Data analysis</a:t>
            </a:r>
            <a:endParaRPr lang="en-US" sz="1600" dirty="0"/>
          </a:p>
        </p:txBody>
      </p:sp>
      <p:sp>
        <p:nvSpPr>
          <p:cNvPr id="24" name="Text 22"/>
          <p:cNvSpPr txBox="1"/>
          <p:nvPr/>
        </p:nvSpPr>
        <p:spPr>
          <a:xfrm>
            <a:off x="548640" y="374904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Sorting large in-memory datasets before searching or grouping</a:t>
            </a:r>
            <a:endParaRPr lang="en-US" sz="1300" dirty="0"/>
          </a:p>
        </p:txBody>
      </p:sp>
      <p:sp>
        <p:nvSpPr>
          <p:cNvPr id="25" name="Shape 23"/>
          <p:cNvSpPr/>
          <p:nvPr/>
        </p:nvSpPr>
        <p:spPr>
          <a:xfrm>
            <a:off x="3200400" y="3017520"/>
            <a:ext cx="2697480" cy="1554480"/>
          </a:xfrm>
          <a:prstGeom prst="roundRect">
            <a:avLst>
              <a:gd name="adj" fmla="val 5882"/>
            </a:avLst>
          </a:prstGeom>
          <a:solidFill>
            <a:srgbClr val="15233B"/>
          </a:solidFill>
          <a:ln w="12700">
            <a:solidFill>
              <a:srgbClr val="24365A"/>
            </a:solidFill>
            <a:prstDash val="solid"/>
          </a:ln>
        </p:spPr>
      </p:sp>
      <p:sp>
        <p:nvSpPr>
          <p:cNvPr id="26" name="Shape 24"/>
          <p:cNvSpPr/>
          <p:nvPr/>
        </p:nvSpPr>
        <p:spPr>
          <a:xfrm>
            <a:off x="3383280" y="3200400"/>
            <a:ext cx="384048" cy="384048"/>
          </a:xfrm>
          <a:prstGeom prst="ellipse">
            <a:avLst/>
          </a:prstGeom>
          <a:solidFill>
            <a:srgbClr val="FB7185"/>
          </a:solidFill>
          <a:ln/>
        </p:spPr>
      </p:sp>
      <p:sp>
        <p:nvSpPr>
          <p:cNvPr id="27" name="Text 25"/>
          <p:cNvSpPr txBox="1"/>
          <p:nvPr/>
        </p:nvSpPr>
        <p:spPr>
          <a:xfrm>
            <a:off x="3383280" y="320040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3886200" y="320040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Search and ranking</a:t>
            </a:r>
            <a:endParaRPr lang="en-US" sz="1600" dirty="0"/>
          </a:p>
        </p:txBody>
      </p:sp>
      <p:sp>
        <p:nvSpPr>
          <p:cNvPr id="29" name="Text 27"/>
          <p:cNvSpPr txBox="1"/>
          <p:nvPr/>
        </p:nvSpPr>
        <p:spPr>
          <a:xfrm>
            <a:off x="3383280" y="374904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Ordering results by score in applications that rank items</a:t>
            </a:r>
            <a:endParaRPr lang="en-US" sz="1300" dirty="0"/>
          </a:p>
        </p:txBody>
      </p:sp>
      <p:sp>
        <p:nvSpPr>
          <p:cNvPr id="30" name="Shape 28"/>
          <p:cNvSpPr/>
          <p:nvPr/>
        </p:nvSpPr>
        <p:spPr>
          <a:xfrm>
            <a:off x="6035040" y="3017520"/>
            <a:ext cx="2697480" cy="1554480"/>
          </a:xfrm>
          <a:prstGeom prst="roundRect">
            <a:avLst>
              <a:gd name="adj" fmla="val 5882"/>
            </a:avLst>
          </a:prstGeom>
          <a:solidFill>
            <a:srgbClr val="15233B"/>
          </a:solidFill>
          <a:ln w="12700">
            <a:solidFill>
              <a:srgbClr val="24365A"/>
            </a:solidFill>
            <a:prstDash val="solid"/>
          </a:ln>
        </p:spPr>
      </p:sp>
      <p:sp>
        <p:nvSpPr>
          <p:cNvPr id="31" name="Shape 29"/>
          <p:cNvSpPr/>
          <p:nvPr/>
        </p:nvSpPr>
        <p:spPr>
          <a:xfrm>
            <a:off x="6217920" y="3200400"/>
            <a:ext cx="384048" cy="384048"/>
          </a:xfrm>
          <a:prstGeom prst="ellipse">
            <a:avLst/>
          </a:prstGeom>
          <a:solidFill>
            <a:srgbClr val="2DD4BF"/>
          </a:solidFill>
          <a:ln/>
        </p:spPr>
      </p:sp>
      <p:sp>
        <p:nvSpPr>
          <p:cNvPr id="32" name="Text 30"/>
          <p:cNvSpPr txBox="1"/>
          <p:nvPr/>
        </p:nvSpPr>
        <p:spPr>
          <a:xfrm>
            <a:off x="6217920" y="320040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6720840" y="3200400"/>
            <a:ext cx="1874520" cy="411480"/>
          </a:xfrm>
          <a:prstGeom prst="rect">
            <a:avLst/>
          </a:prstGeom>
          <a:noFill/>
          <a:ln/>
        </p:spPr>
        <p:txBody>
          <a:bodyPr wrap="square" lIns="0" tIns="0" rIns="0" bIns="0"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Programming contests</a:t>
            </a:r>
            <a:endParaRPr lang="en-US" sz="1600" dirty="0"/>
          </a:p>
        </p:txBody>
      </p:sp>
      <p:sp>
        <p:nvSpPr>
          <p:cNvPr id="34" name="Text 32"/>
          <p:cNvSpPr txBox="1"/>
          <p:nvPr/>
        </p:nvSpPr>
        <p:spPr>
          <a:xfrm>
            <a:off x="6217920" y="3749040"/>
            <a:ext cx="2331720" cy="777240"/>
          </a:xfrm>
          <a:prstGeom prst="rect">
            <a:avLst/>
          </a:prstGeom>
          <a:noFill/>
          <a:ln/>
        </p:spPr>
        <p:txBody>
          <a:bodyPr wrap="square" lIns="0" tIns="0" rIns="0" bIns="0" rtlCol="0" anchor="t"/>
          <a:lstStyle/>
          <a:p>
            <a:pPr indent="0" marL="0">
              <a:buNone/>
            </a:pPr>
            <a:r>
              <a:rPr lang="en-US" sz="1300" dirty="0">
                <a:solidFill>
                  <a:srgbClr val="94A3B8"/>
                </a:solidFill>
                <a:latin typeface="Calibri" pitchFamily="34" charset="0"/>
                <a:ea typeface="Calibri" pitchFamily="34" charset="-122"/>
                <a:cs typeface="Calibri" pitchFamily="34" charset="-120"/>
              </a:rPr>
              <a:t>Simple, fast and easy to code, so a common choice to learn and 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09</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COMPARES</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Quick Sort vs Other Sorts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011680"/>
                <a:gridCol w="1097280"/>
                <a:gridCol w="1280160"/>
                <a:gridCol w="1280160"/>
                <a:gridCol w="1371600"/>
                <a:gridCol w="1188720"/>
              </a:tblGrid>
              <a:tr h="457200">
                <a:tc>
                  <a:txBody>
                    <a:bodyPr/>
                    <a:lstStyle/>
                    <a:p>
                      <a:pPr algn="ctr" indent="0" marL="0">
                        <a:buNone/>
                      </a:pPr>
                      <a:r>
                        <a:rPr lang="en-US" sz="1400" b="1" dirty="0">
                          <a:solidFill>
                            <a:srgbClr val="0B1220"/>
                          </a:solidFill>
                          <a:latin typeface="Calibri" pitchFamily="34" charset="0"/>
                          <a:ea typeface="Calibri" pitchFamily="34" charset="-122"/>
                          <a:cs typeface="Calibri" pitchFamily="34" charset="-120"/>
                        </a:rPr>
                        <a:t>Algorithm</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400" b="1" dirty="0">
                          <a:solidFill>
                            <a:srgbClr val="0B1220"/>
                          </a:solidFill>
                          <a:latin typeface="Calibri" pitchFamily="34" charset="0"/>
                          <a:ea typeface="Calibri" pitchFamily="34" charset="-122"/>
                          <a:cs typeface="Calibri" pitchFamily="34" charset="-120"/>
                        </a:rPr>
                        <a:t>Best</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400" b="1" dirty="0">
                          <a:solidFill>
                            <a:srgbClr val="0B1220"/>
                          </a:solidFill>
                          <a:latin typeface="Calibri" pitchFamily="34" charset="0"/>
                          <a:ea typeface="Calibri" pitchFamily="34" charset="-122"/>
                          <a:cs typeface="Calibri" pitchFamily="34" charset="-120"/>
                        </a:rPr>
                        <a:t>Average</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400" b="1" dirty="0">
                          <a:solidFill>
                            <a:srgbClr val="0B1220"/>
                          </a:solidFill>
                          <a:latin typeface="Calibri" pitchFamily="34" charset="0"/>
                          <a:ea typeface="Calibri" pitchFamily="34" charset="-122"/>
                          <a:cs typeface="Calibri" pitchFamily="34" charset="-120"/>
                        </a:rPr>
                        <a:t>Worst</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400" b="1" dirty="0">
                          <a:solidFill>
                            <a:srgbClr val="0B1220"/>
                          </a:solidFill>
                          <a:latin typeface="Calibri" pitchFamily="34" charset="0"/>
                          <a:ea typeface="Calibri" pitchFamily="34" charset="-122"/>
                          <a:cs typeface="Calibri" pitchFamily="34" charset="-120"/>
                        </a:rPr>
                        <a:t>Extra space</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c>
                  <a:txBody>
                    <a:bodyPr/>
                    <a:lstStyle/>
                    <a:p>
                      <a:pPr algn="ctr" indent="0" marL="0">
                        <a:buNone/>
                      </a:pPr>
                      <a:r>
                        <a:rPr lang="en-US" sz="1400" b="1" dirty="0">
                          <a:solidFill>
                            <a:srgbClr val="0B1220"/>
                          </a:solidFill>
                          <a:latin typeface="Calibri" pitchFamily="34" charset="0"/>
                          <a:ea typeface="Calibri" pitchFamily="34" charset="-122"/>
                          <a:cs typeface="Calibri" pitchFamily="34" charset="-120"/>
                        </a:rPr>
                        <a:t>Stable</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2DD4BF"/>
                    </a:solidFill>
                  </a:tcPr>
                </a:tc>
              </a:tr>
              <a:tr h="457200">
                <a:tc>
                  <a:txBody>
                    <a:bodyPr/>
                    <a:lstStyle/>
                    <a:p>
                      <a:pPr algn="ctr" indent="0" marL="0">
                        <a:buNone/>
                      </a:pPr>
                      <a:r>
                        <a:rPr lang="en-US" sz="1400" b="1" dirty="0">
                          <a:solidFill>
                            <a:srgbClr val="FBBF24"/>
                          </a:solidFill>
                          <a:latin typeface="Calibri" pitchFamily="34" charset="0"/>
                          <a:ea typeface="Calibri" pitchFamily="34" charset="-122"/>
                          <a:cs typeface="Calibri" pitchFamily="34" charset="-120"/>
                        </a:rPr>
                        <a:t>Quick Sort</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b="1" dirty="0">
                          <a:solidFill>
                            <a:srgbClr val="FB7185"/>
                          </a:solidFill>
                          <a:latin typeface="Calibri" pitchFamily="34" charset="0"/>
                          <a:ea typeface="Calibri" pitchFamily="34" charset="-122"/>
                          <a:cs typeface="Calibri" pitchFamily="34" charset="-120"/>
                        </a:rPr>
                        <a:t>n²</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b="1" dirty="0">
                          <a:solidFill>
                            <a:srgbClr val="FB7185"/>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57200">
                <a:tc>
                  <a:txBody>
                    <a:bodyPr/>
                    <a:lstStyle/>
                    <a:p>
                      <a:pPr algn="ctr" indent="0" marL="0">
                        <a:buNone/>
                      </a:pPr>
                      <a:r>
                        <a:rPr lang="en-US" sz="1400" b="1" dirty="0">
                          <a:solidFill>
                            <a:srgbClr val="2DD4BF"/>
                          </a:solidFill>
                          <a:latin typeface="Calibri" pitchFamily="34" charset="0"/>
                          <a:ea typeface="Calibri" pitchFamily="34" charset="-122"/>
                          <a:cs typeface="Calibri" pitchFamily="34" charset="-120"/>
                        </a:rPr>
                        <a:t>Merge Sort</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b="1" dirty="0">
                          <a:solidFill>
                            <a:srgbClr val="4ADE80"/>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57200">
                <a:tc>
                  <a:txBody>
                    <a:bodyPr/>
                    <a:lstStyle/>
                    <a:p>
                      <a:pPr algn="ctr" indent="0" marL="0">
                        <a:buNone/>
                      </a:pPr>
                      <a:r>
                        <a:rPr lang="en-US" sz="1400" b="1" dirty="0">
                          <a:solidFill>
                            <a:srgbClr val="2DD4BF"/>
                          </a:solidFill>
                          <a:latin typeface="Calibri" pitchFamily="34" charset="0"/>
                          <a:ea typeface="Calibri" pitchFamily="34" charset="-122"/>
                          <a:cs typeface="Calibri" pitchFamily="34" charset="-120"/>
                        </a:rPr>
                        <a:t>Heap Sort</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 log 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b="1" dirty="0">
                          <a:solidFill>
                            <a:srgbClr val="FB7185"/>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r h="457200">
                <a:tc>
                  <a:txBody>
                    <a:bodyPr/>
                    <a:lstStyle/>
                    <a:p>
                      <a:pPr algn="ctr" indent="0" marL="0">
                        <a:buNone/>
                      </a:pPr>
                      <a:r>
                        <a:rPr lang="en-US" sz="1400" b="1" dirty="0">
                          <a:solidFill>
                            <a:srgbClr val="2DD4BF"/>
                          </a:solidFill>
                          <a:latin typeface="Calibri" pitchFamily="34" charset="0"/>
                          <a:ea typeface="Calibri" pitchFamily="34" charset="-122"/>
                          <a:cs typeface="Calibri" pitchFamily="34" charset="-120"/>
                        </a:rPr>
                        <a:t>Bubble Sort</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n²</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n²</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dirty="0">
                          <a:solidFill>
                            <a:srgbClr val="F1F5F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c>
                  <a:txBody>
                    <a:bodyPr/>
                    <a:lstStyle/>
                    <a:p>
                      <a:pPr algn="ctr" indent="0" marL="0">
                        <a:buNone/>
                      </a:pPr>
                      <a:r>
                        <a:rPr lang="en-US" sz="1400" b="1" dirty="0">
                          <a:solidFill>
                            <a:srgbClr val="4ADE80"/>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12700" cap="flat" cmpd="sng" algn="ctr">
                      <a:solidFill>
                        <a:srgbClr val="24365A"/>
                      </a:solidFill>
                      <a:prstDash val="solid"/>
                      <a:round/>
                      <a:headEnd type="none" w="med" len="med"/>
                      <a:tailEnd type="none" w="med" len="med"/>
                    </a:lnL>
                    <a:lnR w="12700" cap="flat" cmpd="sng" algn="ctr">
                      <a:solidFill>
                        <a:srgbClr val="24365A"/>
                      </a:solidFill>
                      <a:prstDash val="solid"/>
                      <a:round/>
                      <a:headEnd type="none" w="med" len="med"/>
                      <a:tailEnd type="none" w="med" len="med"/>
                    </a:lnR>
                    <a:lnT w="12700" cap="flat" cmpd="sng" algn="ctr">
                      <a:solidFill>
                        <a:srgbClr val="24365A"/>
                      </a:solidFill>
                      <a:prstDash val="solid"/>
                      <a:round/>
                      <a:headEnd type="none" w="med" len="med"/>
                      <a:tailEnd type="none" w="med" len="med"/>
                    </a:lnT>
                    <a:lnB w="12700" cap="flat" cmpd="sng" algn="ctr">
                      <a:solidFill>
                        <a:srgbClr val="24365A"/>
                      </a:solidFill>
                      <a:prstDash val="solid"/>
                      <a:round/>
                      <a:headEnd type="none" w="med" len="med"/>
                      <a:tailEnd type="none" w="med" len="med"/>
                    </a:lnB>
                    <a:solidFill>
                      <a:srgbClr val="15233B"/>
                    </a:solidFill>
                  </a:tcPr>
                </a:tc>
              </a:tr>
            </a:tbl>
          </a:graphicData>
        </a:graphic>
      </p:graphicFrame>
      <p:sp>
        <p:nvSpPr>
          <p:cNvPr id="6" name="Shape 3"/>
          <p:cNvSpPr/>
          <p:nvPr/>
        </p:nvSpPr>
        <p:spPr>
          <a:xfrm>
            <a:off x="457200" y="3840480"/>
            <a:ext cx="8229600" cy="822960"/>
          </a:xfrm>
          <a:prstGeom prst="roundRect">
            <a:avLst>
              <a:gd name="adj" fmla="val 11111"/>
            </a:avLst>
          </a:prstGeom>
          <a:solidFill>
            <a:srgbClr val="15233B"/>
          </a:solidFill>
          <a:ln w="12700">
            <a:solidFill>
              <a:srgbClr val="24365A"/>
            </a:solidFill>
            <a:prstDash val="solid"/>
          </a:ln>
        </p:spPr>
      </p:sp>
      <p:sp>
        <p:nvSpPr>
          <p:cNvPr id="7" name="Text 4"/>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dirty="0">
                <a:solidFill>
                  <a:srgbClr val="F1F5F9"/>
                </a:solidFill>
                <a:latin typeface="Calibri" pitchFamily="34" charset="0"/>
                <a:ea typeface="Calibri" pitchFamily="34" charset="-122"/>
                <a:cs typeface="Calibri" pitchFamily="34" charset="-120"/>
              </a:rPr>
              <a:t>Quick Sort usually beats Merge Sort and Heap Sort in practice on in-memory arrays, but Merge Sort is the choice when stability or a guaranteed O(n log n) is required.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7132320" y="45720"/>
            <a:ext cx="1828800" cy="1097280"/>
          </a:xfrm>
          <a:prstGeom prst="rect">
            <a:avLst/>
          </a:prstGeom>
          <a:noFill/>
          <a:ln/>
        </p:spPr>
        <p:txBody>
          <a:bodyPr wrap="square" lIns="0" tIns="0" rIns="0" bIns="0" rtlCol="0" anchor="ctr"/>
          <a:lstStyle/>
          <a:p>
            <a:pPr algn="r" indent="0" marL="0">
              <a:buNone/>
            </a:pPr>
            <a:r>
              <a:rPr lang="en-US" sz="8000" b="1" dirty="0">
                <a:solidFill>
                  <a:srgbClr val="16233D"/>
                </a:solidFill>
                <a:latin typeface="Cambria" pitchFamily="34" charset="0"/>
                <a:ea typeface="Cambria" pitchFamily="34" charset="-122"/>
                <a:cs typeface="Cambria" pitchFamily="34" charset="-120"/>
              </a:rPr>
              <a:t>10</a:t>
            </a:r>
            <a:endParaRPr lang="en-US" sz="8000" dirty="0"/>
          </a:p>
        </p:txBody>
      </p:sp>
      <p:sp>
        <p:nvSpPr>
          <p:cNvPr id="3" name="Text 1"/>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KEY TAKEAWAYS</a:t>
            </a:r>
            <a:endParaRPr lang="en-US" sz="1200" dirty="0"/>
          </a:p>
        </p:txBody>
      </p:sp>
      <p:sp>
        <p:nvSpPr>
          <p:cNvPr id="4" name="Text 2"/>
          <p:cNvSpPr txBox="1"/>
          <p:nvPr/>
        </p:nvSpPr>
        <p:spPr>
          <a:xfrm>
            <a:off x="457200" y="475488"/>
            <a:ext cx="7315200" cy="594360"/>
          </a:xfrm>
          <a:prstGeom prst="rect">
            <a:avLst/>
          </a:prstGeom>
          <a:noFill/>
          <a:ln/>
        </p:spPr>
        <p:txBody>
          <a:bodyPr wrap="square" lIns="0" tIns="0" rIns="0" bIns="0" rtlCol="0" anchor="ctr"/>
          <a:lstStyle/>
          <a:p>
            <a:pPr indent="0" marL="0">
              <a:buNone/>
            </a:pPr>
            <a:r>
              <a:rPr lang="en-US" sz="3400" b="1" dirty="0">
                <a:solidFill>
                  <a:srgbClr val="F1F5F9"/>
                </a:solidFill>
                <a:latin typeface="Cambria" pitchFamily="34" charset="0"/>
                <a:ea typeface="Cambria" pitchFamily="34" charset="-122"/>
                <a:cs typeface="Cambria" pitchFamily="34" charset="-120"/>
              </a:rPr>
              <a:t>Summary and Conclusion</a:t>
            </a:r>
            <a:endParaRPr lang="en-US" sz="3400" dirty="0"/>
          </a:p>
        </p:txBody>
      </p:sp>
      <p:sp>
        <p:nvSpPr>
          <p:cNvPr id="5" name="Shape 3"/>
          <p:cNvSpPr/>
          <p:nvPr/>
        </p:nvSpPr>
        <p:spPr>
          <a:xfrm>
            <a:off x="457200" y="1280160"/>
            <a:ext cx="8229600" cy="658368"/>
          </a:xfrm>
          <a:prstGeom prst="roundRect">
            <a:avLst>
              <a:gd name="adj" fmla="val 13889"/>
            </a:avLst>
          </a:prstGeom>
          <a:solidFill>
            <a:srgbClr val="15233B"/>
          </a:solidFill>
          <a:ln w="12700">
            <a:solidFill>
              <a:srgbClr val="24365A"/>
            </a:solidFill>
            <a:prstDash val="solid"/>
          </a:ln>
        </p:spPr>
      </p:sp>
      <p:sp>
        <p:nvSpPr>
          <p:cNvPr id="6" name="Shape 4"/>
          <p:cNvSpPr/>
          <p:nvPr/>
        </p:nvSpPr>
        <p:spPr>
          <a:xfrm>
            <a:off x="640080" y="1417320"/>
            <a:ext cx="384048" cy="384048"/>
          </a:xfrm>
          <a:prstGeom prst="ellipse">
            <a:avLst/>
          </a:prstGeom>
          <a:solidFill>
            <a:srgbClr val="2DD4BF"/>
          </a:solidFill>
          <a:ln/>
        </p:spPr>
      </p:sp>
      <p:sp>
        <p:nvSpPr>
          <p:cNvPr id="7" name="Text 5"/>
          <p:cNvSpPr txBox="1"/>
          <p:nvPr/>
        </p:nvSpPr>
        <p:spPr>
          <a:xfrm>
            <a:off x="640080" y="1417320"/>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234440" y="1280160"/>
            <a:ext cx="7315200" cy="65836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Choose a pivot, partition, recurse: that is the whole idea</a:t>
            </a:r>
            <a:endParaRPr lang="en-US" sz="1700" dirty="0"/>
          </a:p>
        </p:txBody>
      </p:sp>
      <p:sp>
        <p:nvSpPr>
          <p:cNvPr id="9" name="Shape 7"/>
          <p:cNvSpPr/>
          <p:nvPr/>
        </p:nvSpPr>
        <p:spPr>
          <a:xfrm>
            <a:off x="457200" y="2029968"/>
            <a:ext cx="8229600" cy="658368"/>
          </a:xfrm>
          <a:prstGeom prst="roundRect">
            <a:avLst>
              <a:gd name="adj" fmla="val 13889"/>
            </a:avLst>
          </a:prstGeom>
          <a:solidFill>
            <a:srgbClr val="15233B"/>
          </a:solidFill>
          <a:ln w="12700">
            <a:solidFill>
              <a:srgbClr val="24365A"/>
            </a:solidFill>
            <a:prstDash val="solid"/>
          </a:ln>
        </p:spPr>
      </p:sp>
      <p:sp>
        <p:nvSpPr>
          <p:cNvPr id="10" name="Shape 8"/>
          <p:cNvSpPr/>
          <p:nvPr/>
        </p:nvSpPr>
        <p:spPr>
          <a:xfrm>
            <a:off x="640080" y="2167128"/>
            <a:ext cx="384048" cy="384048"/>
          </a:xfrm>
          <a:prstGeom prst="ellipse">
            <a:avLst/>
          </a:prstGeom>
          <a:solidFill>
            <a:srgbClr val="FBBF24"/>
          </a:solidFill>
          <a:ln/>
        </p:spPr>
      </p:sp>
      <p:sp>
        <p:nvSpPr>
          <p:cNvPr id="11" name="Text 9"/>
          <p:cNvSpPr txBox="1"/>
          <p:nvPr/>
        </p:nvSpPr>
        <p:spPr>
          <a:xfrm>
            <a:off x="640080" y="2167128"/>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234440" y="2029968"/>
            <a:ext cx="7315200" cy="65836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Lomuto and Hoare partition differently and return different boundaries</a:t>
            </a:r>
            <a:endParaRPr lang="en-US" sz="1700" dirty="0"/>
          </a:p>
        </p:txBody>
      </p:sp>
      <p:sp>
        <p:nvSpPr>
          <p:cNvPr id="13" name="Shape 11"/>
          <p:cNvSpPr/>
          <p:nvPr/>
        </p:nvSpPr>
        <p:spPr>
          <a:xfrm>
            <a:off x="457200" y="2779776"/>
            <a:ext cx="8229600" cy="658368"/>
          </a:xfrm>
          <a:prstGeom prst="roundRect">
            <a:avLst>
              <a:gd name="adj" fmla="val 13889"/>
            </a:avLst>
          </a:prstGeom>
          <a:solidFill>
            <a:srgbClr val="15233B"/>
          </a:solidFill>
          <a:ln w="12700">
            <a:solidFill>
              <a:srgbClr val="24365A"/>
            </a:solidFill>
            <a:prstDash val="solid"/>
          </a:ln>
        </p:spPr>
      </p:sp>
      <p:sp>
        <p:nvSpPr>
          <p:cNvPr id="14" name="Shape 12"/>
          <p:cNvSpPr/>
          <p:nvPr/>
        </p:nvSpPr>
        <p:spPr>
          <a:xfrm>
            <a:off x="640080" y="2916936"/>
            <a:ext cx="384048" cy="384048"/>
          </a:xfrm>
          <a:prstGeom prst="ellipse">
            <a:avLst/>
          </a:prstGeom>
          <a:solidFill>
            <a:srgbClr val="4ADE80"/>
          </a:solidFill>
          <a:ln/>
        </p:spPr>
      </p:sp>
      <p:sp>
        <p:nvSpPr>
          <p:cNvPr id="15" name="Text 13"/>
          <p:cNvSpPr txBox="1"/>
          <p:nvPr/>
        </p:nvSpPr>
        <p:spPr>
          <a:xfrm>
            <a:off x="640080" y="2916936"/>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234440" y="2779776"/>
            <a:ext cx="7315200" cy="65836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Average O(n log n); worst O(n²) when partitions are unbalanced</a:t>
            </a:r>
            <a:endParaRPr lang="en-US" sz="1700" dirty="0"/>
          </a:p>
        </p:txBody>
      </p:sp>
      <p:sp>
        <p:nvSpPr>
          <p:cNvPr id="17" name="Shape 15"/>
          <p:cNvSpPr/>
          <p:nvPr/>
        </p:nvSpPr>
        <p:spPr>
          <a:xfrm>
            <a:off x="457200" y="3529584"/>
            <a:ext cx="8229600" cy="658368"/>
          </a:xfrm>
          <a:prstGeom prst="roundRect">
            <a:avLst>
              <a:gd name="adj" fmla="val 13889"/>
            </a:avLst>
          </a:prstGeom>
          <a:solidFill>
            <a:srgbClr val="15233B"/>
          </a:solidFill>
          <a:ln w="12700">
            <a:solidFill>
              <a:srgbClr val="24365A"/>
            </a:solidFill>
            <a:prstDash val="solid"/>
          </a:ln>
        </p:spPr>
      </p:sp>
      <p:sp>
        <p:nvSpPr>
          <p:cNvPr id="18" name="Shape 16"/>
          <p:cNvSpPr/>
          <p:nvPr/>
        </p:nvSpPr>
        <p:spPr>
          <a:xfrm>
            <a:off x="640080" y="3666744"/>
            <a:ext cx="384048" cy="384048"/>
          </a:xfrm>
          <a:prstGeom prst="ellipse">
            <a:avLst/>
          </a:prstGeom>
          <a:solidFill>
            <a:srgbClr val="A78BFA"/>
          </a:solidFill>
          <a:ln/>
        </p:spPr>
      </p:sp>
      <p:sp>
        <p:nvSpPr>
          <p:cNvPr id="19" name="Text 17"/>
          <p:cNvSpPr txBox="1"/>
          <p:nvPr/>
        </p:nvSpPr>
        <p:spPr>
          <a:xfrm>
            <a:off x="640080" y="3666744"/>
            <a:ext cx="384048" cy="384048"/>
          </a:xfrm>
          <a:prstGeom prst="rect">
            <a:avLst/>
          </a:prstGeom>
          <a:noFill/>
          <a:ln/>
        </p:spPr>
        <p:txBody>
          <a:bodyPr wrap="square" lIns="0" tIns="0" rIns="0" bIns="0" rtlCol="0" anchor="ctr"/>
          <a:lstStyle/>
          <a:p>
            <a:pPr algn="ctr" indent="0" marL="0">
              <a:buNone/>
            </a:pPr>
            <a:r>
              <a:rPr lang="en-US" sz="1600" b="1" dirty="0">
                <a:solidFill>
                  <a:srgbClr val="0B1220"/>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1234440" y="3529584"/>
            <a:ext cx="7315200" cy="658368"/>
          </a:xfrm>
          <a:prstGeom prst="rect">
            <a:avLst/>
          </a:prstGeom>
          <a:noFill/>
          <a:ln/>
        </p:spPr>
        <p:txBody>
          <a:bodyPr wrap="square" lIns="0" tIns="0" rIns="0" bIns="0" rtlCol="0" anchor="ctr"/>
          <a:lstStyle/>
          <a:p>
            <a:pPr indent="0" marL="0">
              <a:buNone/>
            </a:pPr>
            <a:r>
              <a:rPr lang="en-US" sz="1700" dirty="0">
                <a:solidFill>
                  <a:srgbClr val="F1F5F9"/>
                </a:solidFill>
                <a:latin typeface="Calibri" pitchFamily="34" charset="0"/>
                <a:ea typeface="Calibri" pitchFamily="34" charset="-122"/>
                <a:cs typeface="Calibri" pitchFamily="34" charset="-120"/>
              </a:rPr>
              <a:t>Good pivots (random or median-of-three) avoid the worst case</a:t>
            </a:r>
            <a:endParaRPr lang="en-US" sz="1700" dirty="0"/>
          </a:p>
        </p:txBody>
      </p:sp>
      <p:sp>
        <p:nvSpPr>
          <p:cNvPr id="21" name="Shape 19"/>
          <p:cNvSpPr/>
          <p:nvPr/>
        </p:nvSpPr>
        <p:spPr>
          <a:xfrm>
            <a:off x="457200" y="4343400"/>
            <a:ext cx="8229600" cy="548640"/>
          </a:xfrm>
          <a:prstGeom prst="roundRect">
            <a:avLst>
              <a:gd name="adj" fmla="val 16667"/>
            </a:avLst>
          </a:prstGeom>
          <a:solidFill>
            <a:srgbClr val="2DD4BF"/>
          </a:solidFill>
          <a:ln w="12700">
            <a:solidFill>
              <a:srgbClr val="2DD4BF"/>
            </a:solidFill>
            <a:prstDash val="solid"/>
          </a:ln>
        </p:spPr>
      </p:sp>
      <p:sp>
        <p:nvSpPr>
          <p:cNvPr id="22" name="Text 20"/>
          <p:cNvSpPr txBox="1"/>
          <p:nvPr/>
        </p:nvSpPr>
        <p:spPr>
          <a:xfrm>
            <a:off x="640080" y="4343400"/>
            <a:ext cx="7863840" cy="548640"/>
          </a:xfrm>
          <a:prstGeom prst="rect">
            <a:avLst/>
          </a:prstGeom>
          <a:noFill/>
          <a:ln/>
        </p:spPr>
        <p:txBody>
          <a:bodyPr wrap="square" lIns="0" tIns="0" rIns="0" bIns="0" rtlCol="0" anchor="ctr"/>
          <a:lstStyle/>
          <a:p>
            <a:pPr indent="0" marL="0">
              <a:buNone/>
            </a:pPr>
            <a:r>
              <a:rPr lang="en-US" sz="1600" b="1" dirty="0">
                <a:solidFill>
                  <a:srgbClr val="0B1220"/>
                </a:solidFill>
                <a:latin typeface="Calibri" pitchFamily="34" charset="0"/>
                <a:ea typeface="Calibri" pitchFamily="34" charset="-122"/>
                <a:cs typeface="Calibri" pitchFamily="34" charset="-120"/>
              </a:rPr>
              <a:t>Quick Sort: fast, in-place and widely used, as long as the pivot is chosen well.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Sort Algorithm</dc:title>
  <dc:subject>PptxGenJS Presentation</dc:subject>
  <dc:creator>PptxGenJS</dc:creator>
  <cp:lastModifiedBy>PptxGenJS</cp:lastModifiedBy>
  <cp:revision>1</cp:revision>
  <dcterms:created xsi:type="dcterms:W3CDTF">2026-10-19T04:44:50Z</dcterms:created>
  <dcterms:modified xsi:type="dcterms:W3CDTF">2026-10-19T04:44:50Z</dcterms:modified>
</cp:coreProperties>
</file>